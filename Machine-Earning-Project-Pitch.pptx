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ac8a5a15744d6" /><Relationship Type="http://schemas.openxmlformats.org/officeDocument/2006/relationships/extended-properties" Target="/docProps/app.xml" Id="Rbf59a10a68e340b9" /><Relationship Type="http://schemas.openxmlformats.org/officeDocument/2006/relationships/officeDocument" Target="/ppt/presentation.xml" Id="R5bccce6f15b3401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329dcb626ba49c7"/>
  </p:sldMasterIdLst>
  <p:notesMasterIdLst>
    <p:notesMasterId xmlns:r="http://schemas.openxmlformats.org/officeDocument/2006/relationships" r:id="Rbd80e2e71af945af"/>
  </p:notesMasterIdLst>
  <p:sldIdLst>
    <p:sldId xmlns:r="http://schemas.openxmlformats.org/officeDocument/2006/relationships" id="256" r:id="Rf65aa3e5db634658"/>
    <p:sldId xmlns:r="http://schemas.openxmlformats.org/officeDocument/2006/relationships" id="257" r:id="R31bb60d874ec403b"/>
    <p:sldId xmlns:r="http://schemas.openxmlformats.org/officeDocument/2006/relationships" id="258" r:id="Rd986aee086054ddd"/>
    <p:sldId xmlns:r="http://schemas.openxmlformats.org/officeDocument/2006/relationships" id="259" r:id="Raa6dae8c6935412c"/>
    <p:sldId xmlns:r="http://schemas.openxmlformats.org/officeDocument/2006/relationships" id="260" r:id="R643c0afa26ac4ed1"/>
    <p:sldId xmlns:r="http://schemas.openxmlformats.org/officeDocument/2006/relationships" id="261" r:id="R85e9061914d046ac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f74c012eabd2403c"/>
      <p:bold xmlns:r="http://schemas.openxmlformats.org/officeDocument/2006/relationships" r:id="R09def2f128854896"/>
      <p:italic xmlns:r="http://schemas.openxmlformats.org/officeDocument/2006/relationships" r:id="R02c82d59742143fa"/>
      <p:boldItalic xmlns:r="http://schemas.openxmlformats.org/officeDocument/2006/relationships" r:id="Rf1858c206799464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83502106464679" /><Relationship Type="http://schemas.openxmlformats.org/officeDocument/2006/relationships/slideMaster" Target="/ppt/slideMasters/slideMaster1.xml" Id="R3329dcb626ba49c7" /><Relationship Type="http://schemas.openxmlformats.org/officeDocument/2006/relationships/notesMaster" Target="/ppt/notesMasters/notesMaster1.xml" Id="Rbd80e2e71af945af" /><Relationship Type="http://schemas.openxmlformats.org/officeDocument/2006/relationships/presProps" Target="/ppt/presProps.xml" Id="Rac33e05763934ee2" /><Relationship Type="http://schemas.openxmlformats.org/officeDocument/2006/relationships/viewProps" Target="/ppt/viewProps.xml" Id="R0fe732b4d10a4f20" /><Relationship Type="http://schemas.openxmlformats.org/officeDocument/2006/relationships/tableStyles" Target="/ppt/tableStyles.xml" Id="Rd802599fd7fa48fb" /><Relationship Type="http://schemas.openxmlformats.org/officeDocument/2006/relationships/font" Target="/ppt/fonts/font.dat" Id="Rf74c012eabd2403c" /><Relationship Type="http://schemas.openxmlformats.org/officeDocument/2006/relationships/font" Target="/ppt/fonts/font2.dat" Id="R09def2f128854896" /><Relationship Type="http://schemas.openxmlformats.org/officeDocument/2006/relationships/font" Target="/ppt/fonts/font3.dat" Id="R02c82d59742143fa" /><Relationship Type="http://schemas.openxmlformats.org/officeDocument/2006/relationships/font" Target="/ppt/fonts/font4.dat" Id="Rf1858c2067994649" /><Relationship Type="http://schemas.openxmlformats.org/officeDocument/2006/relationships/slide" Target="/ppt/slides/slide1.xml" Id="Rf65aa3e5db634658" /><Relationship Type="http://schemas.openxmlformats.org/officeDocument/2006/relationships/slide" Target="/ppt/slides/slide2.xml" Id="R31bb60d874ec403b" /><Relationship Type="http://schemas.openxmlformats.org/officeDocument/2006/relationships/slide" Target="/ppt/slides/slide3.xml" Id="Rd986aee086054ddd" /><Relationship Type="http://schemas.openxmlformats.org/officeDocument/2006/relationships/slide" Target="/ppt/slides/slide4.xml" Id="Raa6dae8c6935412c" /><Relationship Type="http://schemas.openxmlformats.org/officeDocument/2006/relationships/slide" Target="/ppt/slides/slide5.xml" Id="R643c0afa26ac4ed1" /><Relationship Type="http://schemas.openxmlformats.org/officeDocument/2006/relationships/slide" Target="/ppt/slides/slide6.xml" Id="R85e9061914d0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bc49e063aa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c604d6215f4df8" /><Relationship Type="http://schemas.openxmlformats.org/officeDocument/2006/relationships/notesMaster" Target="/ppt/notesMasters/notesMaster1.xml" Id="R85734bf218ec4a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4ca783f49b4828" /><Relationship Type="http://schemas.openxmlformats.org/officeDocument/2006/relationships/notesMaster" Target="/ppt/notesMasters/notesMaster1.xml" Id="Radf4974d26474b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8e8583d4494141" /><Relationship Type="http://schemas.openxmlformats.org/officeDocument/2006/relationships/notesMaster" Target="/ppt/notesMasters/notesMaster1.xml" Id="R0af5e7acb83f4e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7d3ed57c64912" /><Relationship Type="http://schemas.openxmlformats.org/officeDocument/2006/relationships/notesMaster" Target="/ppt/notesMasters/notesMaster1.xml" Id="R639174d30843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ccd50c0d1a442e" /><Relationship Type="http://schemas.openxmlformats.org/officeDocument/2006/relationships/notesMaster" Target="/ppt/notesMasters/notesMaster1.xml" Id="R7c56b1061d9043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755de1539946a2" /><Relationship Type="http://schemas.openxmlformats.org/officeDocument/2006/relationships/notesMaster" Target="/ppt/notesMasters/notesMaster1.xml" Id="R66e35a84da5b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 (project purpose and paper-only scope)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 (community, expert and technical signal lanes)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(Stage 0, Stage 1 and Stage 2 workflow)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data/stage1_screen.json (13,476 universe; 197 candidates; as of 2026-09-02)</a:t>
            </a:r>
          </a:p>
          <a:p xmlns:a="http://schemas.openxmlformats.org/drawingml/2006/main">
            <a:r>
              <a:t>- data/stage1_shortlist.md (36 unique shortlist tickers; as of 2026-09-02)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product screenshot captured from http://127.0.0.1:8765/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 (dashboard and durable Markdown memory)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 (paper-only scope, risk policy and ghost-trade learning loop)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3885bc50645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a3d6997774e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6885f919341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e5763fdb648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53829e46243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7350934b74f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281ba3d9345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53699a8254a4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../theme/theme1.xml" Id="R568dc69c6b02470d" /><Relationship Type="http://schemas.openxmlformats.org/officeDocument/2006/relationships/slideLayout" Target="/ppt/slideLayouts/slideLayout1.xml" Id="Rb9db9553baaa438b" /><Relationship Type="http://schemas.openxmlformats.org/officeDocument/2006/relationships/slideLayout" Target="/ppt/slideLayouts/slideLayout2.xml" Id="R245a0a6f66f34715" /><Relationship Type="http://schemas.openxmlformats.org/officeDocument/2006/relationships/slideLayout" Target="/ppt/slideLayouts/slideLayout3.xml" Id="Rb16da52fa9904d9f" /><Relationship Type="http://schemas.openxmlformats.org/officeDocument/2006/relationships/slideLayout" Target="/ppt/slideLayouts/slideLayout4.xml" Id="R60cb9d695203414f" /><Relationship Type="http://schemas.openxmlformats.org/officeDocument/2006/relationships/slideLayout" Target="/ppt/slideLayouts/slideLayout5.xml" Id="R9db026a210b842ed" /><Relationship Type="http://schemas.openxmlformats.org/officeDocument/2006/relationships/slideLayout" Target="/ppt/slideLayouts/slideLayout6.xml" Id="R932f5eb892624aa3" /><Relationship Type="http://schemas.openxmlformats.org/officeDocument/2006/relationships/slideLayout" Target="/ppt/slideLayouts/slideLayout7.xml" Id="R72a73924806d403a" /><Relationship Type="http://schemas.openxmlformats.org/officeDocument/2006/relationships/slideLayout" Target="/ppt/slideLayouts/slideLayout8.xml" Id="Rffcca4886b3244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b9553baaa438b"/>
    <p:sldLayoutId xmlns:r="http://schemas.openxmlformats.org/officeDocument/2006/relationships" id="2147483650" r:id="R245a0a6f66f34715"/>
    <p:sldLayoutId xmlns:r="http://schemas.openxmlformats.org/officeDocument/2006/relationships" id="2147483651" r:id="Rb16da52fa9904d9f"/>
    <p:sldLayoutId xmlns:r="http://schemas.openxmlformats.org/officeDocument/2006/relationships" id="2147483652" r:id="R60cb9d695203414f"/>
    <p:sldLayoutId xmlns:r="http://schemas.openxmlformats.org/officeDocument/2006/relationships" id="2147483653" r:id="R9db026a210b842ed"/>
    <p:sldLayoutId xmlns:r="http://schemas.openxmlformats.org/officeDocument/2006/relationships" id="2147483654" r:id="R932f5eb892624aa3"/>
    <p:sldLayoutId xmlns:r="http://schemas.openxmlformats.org/officeDocument/2006/relationships" id="2147483655" r:id="R72a73924806d403a"/>
    <p:sldLayoutId xmlns:r="http://schemas.openxmlformats.org/officeDocument/2006/relationships" id="2147483656" r:id="Rffcca4886b3244a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bc838b5244cbd" /><Relationship Type="http://schemas.openxmlformats.org/officeDocument/2006/relationships/notesSlide" Target="/ppt/notesSlides/notesSlide1.xml" Id="R97ac63a3bedb42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4ca9136ae4545" /><Relationship Type="http://schemas.openxmlformats.org/officeDocument/2006/relationships/notesSlide" Target="/ppt/notesSlides/notesSlide2.xml" Id="Rda827365240f46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b2aecc8454ab0" /><Relationship Type="http://schemas.openxmlformats.org/officeDocument/2006/relationships/notesSlide" Target="/ppt/notesSlides/notesSlide3.xml" Id="Rf1959b4d4f2942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81d566edb478e" /><Relationship Type="http://schemas.openxmlformats.org/officeDocument/2006/relationships/notesSlide" Target="/ppt/notesSlides/notesSlide4.xml" Id="R5a72215a2bdd49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e243ea85c4678" /><Relationship Type="http://schemas.openxmlformats.org/officeDocument/2006/relationships/image" Target="/ppt/media/image.jpeg" Id="R04084b8227d249c8" /><Relationship Type="http://schemas.openxmlformats.org/officeDocument/2006/relationships/notesSlide" Target="/ppt/notesSlides/notesSlide5.xml" Id="R20b087c3a9a742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3b1e496f84db2" /><Relationship Type="http://schemas.openxmlformats.org/officeDocument/2006/relationships/notesSlide" Target="/ppt/notesSlides/notesSlide6.xml" Id="R39f188d571d245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2579914"/>
            <a:ext cx="9448800" cy="36242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Machine Earning
A learning paper trader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AGENTIC TRADING WORKFLOW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ALPACA · MONEYHEAP · CODEX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edge isn’t one signal. It’s disciplined combination.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Community attention reveals where interest is moving.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Expert shifts capture fresh ratings and target changes.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Technical evidence ranks volume, momentum and volatility.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three-stage loop turns information into accountable action.</a:t>
            </a:r>
          </a:p>
        </p:txBody>
      </p:sp>
      <p:cxnSp>
        <p:nvCxnSpPr>
          <p:cNvPr id="3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01 · COLLECT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 Alpaca assets, snapshots and completed daily bars.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02 · RANK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Fuse deterministic screens with community and expert attention.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03 · ACT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Research, risk-check, then BUY, SELL or HOLD—paper only.</a:t>
            </a:r>
            <a:endParaRPr/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STAGE 1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STAGE 0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STAGE 2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funnel gets narrower—and more skeptical—at every step.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US-listed symbols
screened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research-ready
shortlist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multi-signal
candidates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13,476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197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36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LATEST SCREEN · 02 SEP 2026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same bars and configuration reproduce the same ranked shortlist.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Autonomy stays inspectable.</a:t>
            </a:r>
          </a:p>
        </p:txBody>
      </p:sp>
      <p:pic>
        <p:nvPicPr>
          <p:cNvPr id="5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84b8227d249c8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One workspace, the whole decision trail.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Plain-English summaries, live paper state, research links, ghost trades and durable Markdown memory keep every action reviewable.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Paper-first by design.
Learning by comparison.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No live trades</a:t>
            </a:r>
          </a:p>
          <a:p xmlns:a="http://schemas.openxmlformats.org/drawingml/2006/main">
            <a:r>
              <a:rPr sz="2000"/>
              <a:t>Defined-risk guardrails</a:t>
            </a:r>
          </a:p>
          <a:p xmlns:a="http://schemas.openxmlformats.org/drawingml/2006/main">
            <a:r>
              <a:rPr sz="2000"/>
              <a:t>Real vs. ghost memory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MACHINE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2026-09-03T20:35:53.2930000Z</dcterms:created>
  <dcterms:modified xsi:type="dcterms:W3CDTF">2026-09-03T20:35:53.2930000Z</dcterms:modified>
</coreProperties>
</file>