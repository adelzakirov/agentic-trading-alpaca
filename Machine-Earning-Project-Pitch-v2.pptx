
<file path=[Content_Types].xml><?xml version="1.0" encoding="utf-8"?>
<Types xmlns="http://schemas.openxmlformats.org/package/2006/content-types">
  <Default Extension="xml" ContentType="application/vnd.openxmlformats-package.core-properties+xml"/>
  <Default Extension="dat" ContentType="application/x-fontdata"/>
  <Default Extension="png" ContentType="image/png"/>
  <Default Extension="jpeg" ContentType="image/jpe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theme/theme2.xml" ContentType="application/vnd.openxmlformats-officedocument.them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770faa0a450c412e" /><Relationship Type="http://schemas.openxmlformats.org/officeDocument/2006/relationships/extended-properties" Target="/docProps/app.xml" Id="R562e653281574ef3" /><Relationship Type="http://schemas.openxmlformats.org/officeDocument/2006/relationships/officeDocument" Target="/ppt/presentation.xml" Id="R34d48945b74245d9" /></Relationships>
</file>

<file path=ppt/presentation.xml><?xml version="1.0" encoding="utf-8"?>
<p:presentation xmlns:p="http://schemas.openxmlformats.org/presentationml/2006/main" embedTrueTypeFonts="1" saveSubsetFonts="0">
  <p:sldMasterIdLst>
    <p:sldMasterId xmlns:r="http://schemas.openxmlformats.org/officeDocument/2006/relationships" id="2147483648" r:id="R91a247dea3f54703"/>
  </p:sldMasterIdLst>
  <p:notesMasterIdLst>
    <p:notesMasterId xmlns:r="http://schemas.openxmlformats.org/officeDocument/2006/relationships" r:id="R97c13acd6d40422b"/>
  </p:notesMasterIdLst>
  <p:sldIdLst>
    <p:sldId xmlns:r="http://schemas.openxmlformats.org/officeDocument/2006/relationships" id="256" r:id="R88f7f220e68b44ec"/>
    <p:sldId xmlns:r="http://schemas.openxmlformats.org/officeDocument/2006/relationships" id="257" r:id="Rfc39c69169db4ca1"/>
    <p:sldId xmlns:r="http://schemas.openxmlformats.org/officeDocument/2006/relationships" id="258" r:id="Rd029da1234274fd6"/>
    <p:sldId xmlns:r="http://schemas.openxmlformats.org/officeDocument/2006/relationships" id="259" r:id="R4b7a07100cbb472c"/>
    <p:sldId xmlns:r="http://schemas.openxmlformats.org/officeDocument/2006/relationships" id="260" r:id="Rf95ae54c88e54f5d"/>
    <p:sldId xmlns:r="http://schemas.openxmlformats.org/officeDocument/2006/relationships" id="261" r:id="R5799ff327bff408d"/>
  </p:sldIdLst>
  <p:sldSz cx="12192000" cy="6858000"/>
  <p:notesSz cx="6858000" cy="9144000"/>
  <p:embeddedFontLst>
    <p:embeddedFont>
      <p:font typeface="OpenAI Sans"/>
      <p:regular xmlns:r="http://schemas.openxmlformats.org/officeDocument/2006/relationships" r:id="R1d8a539fa64a4308"/>
      <p:bold xmlns:r="http://schemas.openxmlformats.org/officeDocument/2006/relationships" r:id="Radf6c22a00224895"/>
      <p:italic xmlns:r="http://schemas.openxmlformats.org/officeDocument/2006/relationships" r:id="R696d27e0717b43fd"/>
      <p:boldItalic xmlns:r="http://schemas.openxmlformats.org/officeDocument/2006/relationships" r:id="Ra8650686d1264b8b"/>
    </p:embeddedFont>
  </p:embeddedFontLst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p="http://schemas.openxmlformats.org/presentationml/2006/main">
  <p:slideViewPr>
    <p:cSldViewPr snapToGrid="0">
      <p:cViewPr>
        <p:scale>
          <a:sx xmlns:a="http://schemas.openxmlformats.org/drawingml/2006/main" n="1" d="1"/>
          <a:sy xmlns:a="http://schemas.openxmlformats.org/drawingml/2006/main" n="1" d="1"/>
        </p:scale>
        <p:origin x="0" y="0"/>
      </p:cViewPr>
      <p:guideLst/>
    </p:cSldViewPr>
  </p:slide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69ad9e717db64731" /><Relationship Type="http://schemas.openxmlformats.org/officeDocument/2006/relationships/slideMaster" Target="/ppt/slideMasters/slideMaster1.xml" Id="R91a247dea3f54703" /><Relationship Type="http://schemas.openxmlformats.org/officeDocument/2006/relationships/notesMaster" Target="/ppt/notesMasters/notesMaster1.xml" Id="R97c13acd6d40422b" /><Relationship Type="http://schemas.openxmlformats.org/officeDocument/2006/relationships/presProps" Target="/ppt/presProps.xml" Id="R8b44c330790e41ab" /><Relationship Type="http://schemas.openxmlformats.org/officeDocument/2006/relationships/viewProps" Target="/ppt/viewProps.xml" Id="R7ac614fe9ee74cda" /><Relationship Type="http://schemas.openxmlformats.org/officeDocument/2006/relationships/tableStyles" Target="/ppt/tableStyles.xml" Id="R02a5ce5aa23b4bb1" /><Relationship Type="http://schemas.openxmlformats.org/officeDocument/2006/relationships/font" Target="/ppt/fonts/font.dat" Id="R1d8a539fa64a4308" /><Relationship Type="http://schemas.openxmlformats.org/officeDocument/2006/relationships/font" Target="/ppt/fonts/font2.dat" Id="Radf6c22a00224895" /><Relationship Type="http://schemas.openxmlformats.org/officeDocument/2006/relationships/font" Target="/ppt/fonts/font3.dat" Id="R696d27e0717b43fd" /><Relationship Type="http://schemas.openxmlformats.org/officeDocument/2006/relationships/font" Target="/ppt/fonts/font4.dat" Id="Ra8650686d1264b8b" /><Relationship Type="http://schemas.openxmlformats.org/officeDocument/2006/relationships/slide" Target="/ppt/slides/slide1.xml" Id="R88f7f220e68b44ec" /><Relationship Type="http://schemas.openxmlformats.org/officeDocument/2006/relationships/slide" Target="/ppt/slides/slide2.xml" Id="Rfc39c69169db4ca1" /><Relationship Type="http://schemas.openxmlformats.org/officeDocument/2006/relationships/slide" Target="/ppt/slides/slide3.xml" Id="Rd029da1234274fd6" /><Relationship Type="http://schemas.openxmlformats.org/officeDocument/2006/relationships/slide" Target="/ppt/slides/slide4.xml" Id="R4b7a07100cbb472c" /><Relationship Type="http://schemas.openxmlformats.org/officeDocument/2006/relationships/slide" Target="/ppt/slides/slide5.xml" Id="Rf95ae54c88e54f5d" /><Relationship Type="http://schemas.openxmlformats.org/officeDocument/2006/relationships/slide" Target="/ppt/slides/slide6.xml" Id="R5799ff327bff408d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2d83ced492a84ce6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Default Codex Theme">
  <a:themeElements>
    <a:clrScheme name="Codex Colors">
      <a:dk1>
        <a:srgbClr val="000000"/>
      </a:dk1>
      <a:lt1>
        <a:srgbClr val="FFFFFF"/>
      </a:lt1>
      <a:dk2>
        <a:srgbClr val="00264F"/>
      </a:dk2>
      <a:lt2>
        <a:srgbClr val="D0EDFA"/>
      </a:lt2>
      <a:accent1>
        <a:srgbClr val="6DCBF4"/>
      </a:accent1>
      <a:accent2>
        <a:srgbClr val="3D8DFF"/>
      </a:accent2>
      <a:accent3>
        <a:srgbClr val="47E2C2"/>
      </a:accent3>
      <a:accent4>
        <a:srgbClr val="85DF7B"/>
      </a:accent4>
      <a:accent5>
        <a:srgbClr val="F7CB59"/>
      </a:accent5>
      <a:accent6>
        <a:srgbClr val="F67576"/>
      </a:accent6>
      <a:hlink>
        <a:srgbClr val="000000"/>
      </a:hlink>
      <a:folHlink>
        <a:srgbClr val="0097A7"/>
      </a:folHlink>
    </a:clrScheme>
    <a:fontScheme name="Helvetica Neue">
      <a:majorFont>
        <a:latin typeface="Helvetica Neue"/>
        <a:ea typeface=""/>
        <a:cs typeface=""/>
      </a:majorFont>
      <a:minorFont>
        <a:latin typeface="Helvetica Neue"/>
        <a:ea typeface=""/>
        <a:cs typeface=""/>
      </a:minorFont>
    </a:fontScheme>
    <a:fmtScheme name="Codex Colors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71c6325b9690416b" /><Relationship Type="http://schemas.openxmlformats.org/officeDocument/2006/relationships/notesMaster" Target="/ppt/notesMasters/notesMaster1.xml" Id="R26345570185e4ad6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34bc44dd03984f99" /><Relationship Type="http://schemas.openxmlformats.org/officeDocument/2006/relationships/notesMaster" Target="/ppt/notesMasters/notesMaster1.xml" Id="R0e63d127ebf54c9a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2b949b36a2e24c36" /><Relationship Type="http://schemas.openxmlformats.org/officeDocument/2006/relationships/notesMaster" Target="/ppt/notesMasters/notesMaster1.xml" Id="R9b03f90daa144a52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16701e584b2240ad" /><Relationship Type="http://schemas.openxmlformats.org/officeDocument/2006/relationships/notesMaster" Target="/ppt/notesMasters/notesMaster1.xml" Id="Rfe75993aca104ac8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2331f4ee8483460a" /><Relationship Type="http://schemas.openxmlformats.org/officeDocument/2006/relationships/notesMaster" Target="/ppt/notesMasters/notesMaster1.xml" Id="Rc1ccdbd2a5ab4672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0ffcbc12a52e489c" /><Relationship Type="http://schemas.openxmlformats.org/officeDocument/2006/relationships/notesMaster" Target="/ppt/notesMasters/notesMaster1.xml" Id="R0a87b231631d4921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  <a:endParaRPr/>
          </a:p>
          <a:p xmlns:a="http://schemas.openxmlformats.org/drawingml/2006/main">
            <a:r>
              <a:t>- User-supplied title image: codex-clipboard-4759ce69-99a0-4b12-be9f-6ea023e67aa8.png</a:t>
            </a:r>
            <a:endParaRPr/>
          </a:p>
          <a:p xmlns:a="http://schemas.openxmlformats.org/drawingml/2006/main">
            <a:r>
              <a:t>[/Sources]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[Sources]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- README.md (community, expert and technical signal lanes)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[/Sources]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README.md (Stage 0, Stage 1 and Stage 2 workflow)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data/stage1_screen.json (13,476 universe; 197 candidates; as of 2026-09-02)</a:t>
            </a:r>
          </a:p>
          <a:p xmlns:a="http://schemas.openxmlformats.org/drawingml/2006/main">
            <a:r>
              <a:t>- data/stage1_shortlist.md (36 unique shortlist tickers; as of 2026-09-02)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[Sources]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- Local product screenshot captured from http://127.0.0.1:8765/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- README.md (dashboard and durable Markdown memory)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[/Sources]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  <a:endParaRPr/>
          </a:p>
          <a:p xmlns:a="http://schemas.openxmlformats.org/drawingml/2006/main">
            <a:r>
              <a:t>- README.md (paper-only scope, risk policy and ghost-trade learning loop)</a:t>
            </a:r>
            <a:endParaRPr/>
          </a:p>
          <a:p xmlns:a="http://schemas.openxmlformats.org/drawingml/2006/main">
            <a:r>
              <a:t>[/Sources]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55a5408df7e4b7a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84be4d894ba45b6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359e600415c4fff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ad7c0ceb9cc4bfb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72d5b485aee4c58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fc3dba26e6e4e02" /></Relationships>
</file>

<file path=ppt/slideLayouts/_rels/slideLayout7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8f5791f0de44046" /></Relationships>
</file>

<file path=ppt/slideLayouts/_rels/slideLayout8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07fef5516f64415" /></Relationships>
</file>

<file path=ppt/slideLayouts/slideLayout1.xml><?xml version="1.0" encoding="utf-8"?>
<p:sldLayout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683004A5-B645-655E-5362-4217D55892E1}"/>
              </a:ext>
            </a:extLst>
          </p:cNvPr>
          <p:cNvSpPr>
            <a:spLocks xmlns:a="http://schemas.openxmlformats.org/drawingml/2006/main" noGrp="1"/>
          </p:cNvSpPr>
          <p:nvPr>
            <p:ph type="ctrTitle" idx="0"/>
          </p:nvPr>
        </p:nvSpPr>
        <p:spPr>
          <a:xfrm xmlns:a="http://schemas.openxmlformats.org/drawingml/2006/main">
            <a:off x="393700" y="1041400"/>
            <a:ext cx="7493000" cy="2491490"/>
          </a:xfrm>
        </p:spPr>
        <p:txBody>
          <a:bodyPr xmlns:a="http://schemas.openxmlformats.org/drawingml/2006/main" anchor="b"/>
          <a:lstStyle xmlns:a="http://schemas.openxmlformats.org/drawingml/2006/main">
            <a:lvl1pPr algn="l">
              <a:buNone/>
              <a:defRPr sz="6000"/>
            </a:lvl1pPr>
          </a:lstStyle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Subtitle 2">
            <a:extLst xmlns:a="http://schemas.openxmlformats.org/drawingml/2006/main">
              <a:ext uri="{FF2B5EF4-FFF2-40B4-BE49-F238E27FC236}">
                <a16:creationId xmlns:a16="http://schemas.microsoft.com/office/drawing/2014/main" id="{C57031B1-59B2-C235-9FDD-8050418A5FD8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393700" y="4356100"/>
            <a:ext cx="5537200" cy="1638300"/>
          </a:xfrm>
        </p:spPr>
        <p:txBody>
          <a:bodyPr xmlns:a="http://schemas.openxmlformats.org/drawingml/2006/main"/>
          <a:lstStyle xmlns:a="http://schemas.openxmlformats.org/drawingml/2006/main">
            <a:lvl1pPr marL="0" indent="0" algn="l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 xmlns:a="http://schemas.openxmlformats.org/drawingml/2006/main">
            <a:r>
              <a:t>Click to edit Master subtitle style</a:t>
            </a:r>
          </a:p>
        </p:txBody>
      </p:sp>
    </p:spTree>
  </p:cSld>
</p:sldLayout>
</file>

<file path=ppt/slideLayouts/slideLayout2.xml><?xml version="1.0" encoding="utf-8"?>
<p:sldLayout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5E851FDE-9E0B-568C-1CBA-E72B86CC06ED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393700" y="2032000"/>
            <a:ext cx="11404600" cy="396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/>
          </a:bodyPr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9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29CCD18F-3BF6-A3EE-DAAE-66BD406D7E8D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393700" y="6279952"/>
            <a:ext cx="3568700" cy="2412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l">
              <a:buNone/>
              <a:defRPr sz="1000">
                <a:solidFill>
                  <a:schemeClr val="tx1"/>
                </a:solidFill>
              </a:defRPr>
            </a:lvl1pPr>
          </a:lstStyle>
          <a:p xmlns:a="http://schemas.openxmlformats.org/drawingml/2006/main">
            <a:endParaRPr sz="1000"/>
          </a:p>
        </p:txBody>
      </p:sp>
      <p:sp>
        <p:nvSpPr>
          <p:cNvPr id="10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5186992D-ADA6-5A23-EBD5-6BEF0A2E61BA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279332" y="6279294"/>
            <a:ext cx="518968" cy="2412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r">
              <a:buNone/>
              <a:defRPr sz="1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fld id="{8574A810-7A8E-054F-9F6B-09E9C694ECF9}" type="slidenum">
              <a:t>‹#›</a:t>
            </a:fld>
            <a:endParaRPr sz="1000"/>
          </a:p>
        </p:txBody>
      </p:sp>
      <p:sp>
        <p:nvSpPr>
          <p:cNvPr id="2" name="Title Placeholder 1">
            <a:extLst xmlns:a="http://schemas.openxmlformats.org/drawingml/2006/main">
              <a:ext uri="{FF2B5EF4-FFF2-40B4-BE49-F238E27FC236}">
                <a16:creationId xmlns:a16="http://schemas.microsoft.com/office/drawing/2014/main" id="{CDBB333F-FFCF-AA9E-7AC0-64DB02353FB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3700" y="344008"/>
            <a:ext cx="11404600" cy="104749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</p:spTree>
  </p:cSld>
</p:sldLayout>
</file>

<file path=ppt/slideLayouts/slideLayout3.xml><?xml version="1.0" encoding="utf-8"?>
<p:sldLayout xmlns:p="http://schemas.openxmlformats.org/presentationml/2006/main" preserve="1" userDrawn="1">
  <p:cSld name="Two Conten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4DCC3060-FADA-4310-30F9-24EC34B5AA87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393700" y="2032000"/>
            <a:ext cx="5537200" cy="396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/>
          </a:bodyPr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10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19E7B047-08E6-29C1-F101-C084D555AACC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393700" y="6279952"/>
            <a:ext cx="3568700" cy="2412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l">
              <a:buNone/>
              <a:defRPr sz="1000">
                <a:solidFill>
                  <a:schemeClr val="tx1"/>
                </a:solidFill>
              </a:defRPr>
            </a:lvl1pPr>
          </a:lstStyle>
          <a:p xmlns:a="http://schemas.openxmlformats.org/drawingml/2006/main">
            <a:endParaRPr sz="1000"/>
          </a:p>
        </p:txBody>
      </p:sp>
      <p:sp>
        <p:nvSpPr>
          <p:cNvPr id="11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3DE564C6-8AA0-935D-A919-07AFA15B335B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279332" y="6279294"/>
            <a:ext cx="518968" cy="2412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r">
              <a:buNone/>
              <a:defRPr sz="1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fld id="{8574A810-7A8E-054F-9F6B-09E9C694ECF9}" type="slidenum">
              <a:t>‹#›</a:t>
            </a:fld>
            <a:endParaRPr sz="1000"/>
          </a:p>
        </p:txBody>
      </p:sp>
      <p:sp>
        <p:nvSpPr>
          <p:cNvPr id="12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4ABE46D3-8F05-1C7F-3EC7-20BFCC76C251}"/>
              </a:ext>
            </a:extLst>
          </p:cNvPr>
          <p:cNvSpPr>
            <a:spLocks xmlns:a="http://schemas.openxmlformats.org/drawingml/2006/main" noGrp="1"/>
          </p:cNvSpPr>
          <p:nvPr>
            <p:ph idx="10"/>
          </p:nvPr>
        </p:nvSpPr>
        <p:spPr>
          <a:xfrm xmlns:a="http://schemas.openxmlformats.org/drawingml/2006/main">
            <a:off x="6256618" y="2032000"/>
            <a:ext cx="5537200" cy="396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/>
          </a:bodyPr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2" name="Title Placeholder 1">
            <a:extLst xmlns:a="http://schemas.openxmlformats.org/drawingml/2006/main">
              <a:ext uri="{FF2B5EF4-FFF2-40B4-BE49-F238E27FC236}">
                <a16:creationId xmlns:a16="http://schemas.microsoft.com/office/drawing/2014/main" id="{739D2C21-36BF-25E7-8E97-1D17F313F7A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3700" y="344008"/>
            <a:ext cx="11404600" cy="104749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</p:spTree>
  </p:cSld>
</p:sldLayout>
</file>

<file path=ppt/slideLayouts/slideLayout4.xml><?xml version="1.0" encoding="utf-8"?>
<p:sldLayout xmlns:p="http://schemas.openxmlformats.org/presentationml/2006/main" preserve="1" userDrawn="1">
  <p:cSld name="Three Conten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6F7D12C6-B3BC-2F80-A661-00CC228193B5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393700" y="2032000"/>
            <a:ext cx="3568700" cy="396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/>
          </a:bodyPr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12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0682803B-B799-370F-B1B9-EB49CCB10A11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393700" y="6279952"/>
            <a:ext cx="3568700" cy="2412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l">
              <a:buNone/>
              <a:defRPr sz="1000">
                <a:solidFill>
                  <a:schemeClr val="tx1"/>
                </a:solidFill>
              </a:defRPr>
            </a:lvl1pPr>
          </a:lstStyle>
          <a:p xmlns:a="http://schemas.openxmlformats.org/drawingml/2006/main">
            <a:endParaRPr sz="1000"/>
          </a:p>
        </p:txBody>
      </p:sp>
      <p:sp>
        <p:nvSpPr>
          <p:cNvPr id="13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AFE26095-B1FD-5C7C-C8D6-78ABF739DCBA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279332" y="6279294"/>
            <a:ext cx="518968" cy="2412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r">
              <a:buNone/>
              <a:defRPr sz="1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fld id="{8574A810-7A8E-054F-9F6B-09E9C694ECF9}" type="slidenum">
              <a:t>‹#›</a:t>
            </a:fld>
            <a:endParaRPr sz="1000"/>
          </a:p>
        </p:txBody>
      </p:sp>
      <p:sp>
        <p:nvSpPr>
          <p:cNvPr id="14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80E090C5-E6C8-92F2-E8C2-A840B8F1807D}"/>
              </a:ext>
            </a:extLst>
          </p:cNvPr>
          <p:cNvSpPr>
            <a:spLocks xmlns:a="http://schemas.openxmlformats.org/drawingml/2006/main" noGrp="1"/>
          </p:cNvSpPr>
          <p:nvPr>
            <p:ph idx="10"/>
          </p:nvPr>
        </p:nvSpPr>
        <p:spPr>
          <a:xfrm xmlns:a="http://schemas.openxmlformats.org/drawingml/2006/main">
            <a:off x="4318000" y="2032000"/>
            <a:ext cx="3568700" cy="396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/>
          </a:bodyPr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15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0C6D2D15-AEC2-9F99-316F-C37AF863965D}"/>
              </a:ext>
            </a:extLst>
          </p:cNvPr>
          <p:cNvSpPr>
            <a:spLocks xmlns:a="http://schemas.openxmlformats.org/drawingml/2006/main" noGrp="1"/>
          </p:cNvSpPr>
          <p:nvPr>
            <p:ph idx="11"/>
          </p:nvPr>
        </p:nvSpPr>
        <p:spPr>
          <a:xfrm xmlns:a="http://schemas.openxmlformats.org/drawingml/2006/main">
            <a:off x="8232273" y="2032000"/>
            <a:ext cx="3568700" cy="396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/>
          </a:bodyPr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2" name="Title Placeholder 1">
            <a:extLst xmlns:a="http://schemas.openxmlformats.org/drawingml/2006/main">
              <a:ext uri="{FF2B5EF4-FFF2-40B4-BE49-F238E27FC236}">
                <a16:creationId xmlns:a16="http://schemas.microsoft.com/office/drawing/2014/main" id="{EC59174D-4FF5-0FD8-FE78-F71A39E187A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3700" y="344008"/>
            <a:ext cx="11404600" cy="104749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</p:spTree>
  </p:cSld>
</p:sldLayout>
</file>

<file path=ppt/slideLayouts/slideLayout5.xml><?xml version="1.0" encoding="utf-8"?>
<p:sldLayout xmlns:p="http://schemas.openxmlformats.org/presentationml/2006/main" preserve="1" userDrawn="1">
  <p:cSld name="Four Conten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6F7D12C6-B3BC-2F80-A661-00CC228193B5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393700" y="2213811"/>
            <a:ext cx="2595934" cy="3780589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/>
          </a:bodyPr>
          <a:lstStyle xmlns:a="http://schemas.openxmlformats.org/drawingml/2006/main">
            <a:lvl1pPr>
              <a:buNone/>
              <a:defRPr sz="1600"/>
            </a:lvl1pPr>
            <a:lvl2pPr>
              <a:buNone/>
              <a:defRPr sz="1600"/>
            </a:lvl2pPr>
            <a:lvl3pPr>
              <a:buNone/>
              <a:defRPr sz="1600"/>
            </a:lvl3pPr>
            <a:lvl4pPr>
              <a:buNone/>
              <a:defRPr sz="1600"/>
            </a:lvl4pPr>
            <a:lvl5pPr>
              <a:buNone/>
              <a:defRPr sz="1600"/>
            </a:lvl5pPr>
          </a:lstStyle>
          <a:p xmlns:a="http://schemas.openxmlformats.org/drawingml/2006/main">
            <a:pPr lvl="0">
              <a:buNone/>
            </a:pPr>
            <a:r>
              <a:t>Click to edit Master</a:t>
            </a:r>
          </a:p>
        </p:txBody>
      </p:sp>
      <p:sp>
        <p:nvSpPr>
          <p:cNvPr id="12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0682803B-B799-370F-B1B9-EB49CCB10A11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393700" y="6279952"/>
            <a:ext cx="3568700" cy="2412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l">
              <a:buNone/>
              <a:defRPr sz="1000">
                <a:solidFill>
                  <a:schemeClr val="tx1"/>
                </a:solidFill>
              </a:defRPr>
            </a:lvl1pPr>
          </a:lstStyle>
          <a:p xmlns:a="http://schemas.openxmlformats.org/drawingml/2006/main">
            <a:endParaRPr sz="1000"/>
          </a:p>
        </p:txBody>
      </p:sp>
      <p:sp>
        <p:nvSpPr>
          <p:cNvPr id="13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AFE26095-B1FD-5C7C-C8D6-78ABF739DCBA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279332" y="6279294"/>
            <a:ext cx="518968" cy="2412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r">
              <a:buNone/>
              <a:defRPr sz="1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fld id="{8574A810-7A8E-054F-9F6B-09E9C694ECF9}" type="slidenum">
              <a:t>‹#›</a:t>
            </a:fld>
            <a:endParaRPr sz="1000"/>
          </a:p>
        </p:txBody>
      </p:sp>
      <p:sp>
        <p:nvSpPr>
          <p:cNvPr id="2" name="Title Placeholder 1">
            <a:extLst xmlns:a="http://schemas.openxmlformats.org/drawingml/2006/main">
              <a:ext uri="{FF2B5EF4-FFF2-40B4-BE49-F238E27FC236}">
                <a16:creationId xmlns:a16="http://schemas.microsoft.com/office/drawing/2014/main" id="{EC59174D-4FF5-0FD8-FE78-F71A39E187A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3700" y="344008"/>
            <a:ext cx="11404600" cy="104749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8" name="Text Placeholder 7">
            <a:extLst xmlns:a="http://schemas.openxmlformats.org/drawingml/2006/main">
              <a:ext uri="{FF2B5EF4-FFF2-40B4-BE49-F238E27FC236}">
                <a16:creationId xmlns:a16="http://schemas.microsoft.com/office/drawing/2014/main" id="{4F70A9DA-D783-0627-3166-E13B68C2ADAC}"/>
              </a:ext>
            </a:extLst>
          </p:cNvPr>
          <p:cNvSpPr>
            <a:spLocks xmlns:a="http://schemas.openxmlformats.org/drawingml/2006/main" noGrp="1"/>
          </p:cNvSpPr>
          <p:nvPr>
            <p:ph type="body" idx="12"/>
          </p:nvPr>
        </p:nvSpPr>
        <p:spPr>
          <a:xfrm xmlns:a="http://schemas.openxmlformats.org/drawingml/2006/main">
            <a:off x="3334966" y="2213811"/>
            <a:ext cx="2595934" cy="3780589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1800"/>
            </a:lvl1pPr>
            <a:lvl2pPr>
              <a:buNone/>
              <a:defRPr sz="1800"/>
            </a:lvl2pPr>
            <a:lvl3pPr>
              <a:buNone/>
              <a:defRPr sz="1800"/>
            </a:lvl3pPr>
            <a:lvl4pPr>
              <a:buNone/>
              <a:defRPr sz="1800"/>
            </a:lvl4pPr>
            <a:lvl5pPr>
              <a:buNone/>
              <a:defRPr sz="1800"/>
            </a:lvl5pPr>
          </a:lstStyle>
          <a:p xmlns:a="http://schemas.openxmlformats.org/drawingml/2006/main">
            <a:pPr lvl="0">
              <a:buNone/>
            </a:pPr>
            <a:r>
              <a:t>Click to edit Master</a:t>
            </a:r>
          </a:p>
        </p:txBody>
      </p:sp>
      <p:sp>
        <p:nvSpPr>
          <p:cNvPr id="9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75BF2647-8E8C-CAEE-896D-0E1567AF7E99}"/>
              </a:ext>
            </a:extLst>
          </p:cNvPr>
          <p:cNvSpPr>
            <a:spLocks xmlns:a="http://schemas.openxmlformats.org/drawingml/2006/main" noGrp="1"/>
          </p:cNvSpPr>
          <p:nvPr>
            <p:ph idx="13"/>
          </p:nvPr>
        </p:nvSpPr>
        <p:spPr>
          <a:xfrm xmlns:a="http://schemas.openxmlformats.org/drawingml/2006/main">
            <a:off x="6264413" y="2213811"/>
            <a:ext cx="2595934" cy="3780589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/>
          </a:bodyPr>
          <a:lstStyle xmlns:a="http://schemas.openxmlformats.org/drawingml/2006/main">
            <a:lvl1pPr>
              <a:buNone/>
              <a:defRPr sz="1600"/>
            </a:lvl1pPr>
            <a:lvl2pPr>
              <a:buNone/>
              <a:defRPr sz="1600"/>
            </a:lvl2pPr>
            <a:lvl3pPr>
              <a:buNone/>
              <a:defRPr sz="1600"/>
            </a:lvl3pPr>
            <a:lvl4pPr>
              <a:buNone/>
              <a:defRPr sz="1600"/>
            </a:lvl4pPr>
            <a:lvl5pPr>
              <a:buNone/>
              <a:defRPr sz="1600"/>
            </a:lvl5pPr>
          </a:lstStyle>
          <a:p xmlns:a="http://schemas.openxmlformats.org/drawingml/2006/main">
            <a:pPr lvl="0">
              <a:buNone/>
            </a:pPr>
            <a:r>
              <a:t>Click to edit Master</a:t>
            </a:r>
          </a:p>
        </p:txBody>
      </p:sp>
      <p:sp>
        <p:nvSpPr>
          <p:cNvPr id="10" name="Text Placeholder 7">
            <a:extLst xmlns:a="http://schemas.openxmlformats.org/drawingml/2006/main">
              <a:ext uri="{FF2B5EF4-FFF2-40B4-BE49-F238E27FC236}">
                <a16:creationId xmlns:a16="http://schemas.microsoft.com/office/drawing/2014/main" id="{37C6F143-221A-9959-8FBA-B9B1DB6602D0}"/>
              </a:ext>
            </a:extLst>
          </p:cNvPr>
          <p:cNvSpPr>
            <a:spLocks xmlns:a="http://schemas.openxmlformats.org/drawingml/2006/main" noGrp="1"/>
          </p:cNvSpPr>
          <p:nvPr>
            <p:ph type="body" idx="14"/>
          </p:nvPr>
        </p:nvSpPr>
        <p:spPr>
          <a:xfrm xmlns:a="http://schemas.openxmlformats.org/drawingml/2006/main">
            <a:off x="9205679" y="2213811"/>
            <a:ext cx="2595934" cy="3780589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1800"/>
            </a:lvl1pPr>
            <a:lvl2pPr>
              <a:buNone/>
              <a:defRPr sz="1800"/>
            </a:lvl2pPr>
            <a:lvl3pPr>
              <a:buNone/>
              <a:defRPr sz="1800"/>
            </a:lvl3pPr>
            <a:lvl4pPr>
              <a:buNone/>
              <a:defRPr sz="1800"/>
            </a:lvl4pPr>
            <a:lvl5pPr>
              <a:buNone/>
              <a:defRPr sz="1800"/>
            </a:lvl5pPr>
          </a:lstStyle>
          <a:p xmlns:a="http://schemas.openxmlformats.org/drawingml/2006/main">
            <a:pPr lvl="0">
              <a:buNone/>
            </a:pPr>
            <a:r>
              <a:t>Click to edit Master</a:t>
            </a:r>
          </a:p>
        </p:txBody>
      </p:sp>
    </p:spTree>
  </p:cSld>
</p:sldLayout>
</file>

<file path=ppt/slideLayouts/slideLayout6.xml><?xml version="1.0" encoding="utf-8"?>
<p:sldLayout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DB1182C5-F22B-2641-06DE-4EDACA3C1DDD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393700" y="6279952"/>
            <a:ext cx="3568700" cy="2412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l">
              <a:buNone/>
              <a:defRPr sz="1000">
                <a:solidFill>
                  <a:schemeClr val="tx1"/>
                </a:solidFill>
              </a:defRPr>
            </a:lvl1pPr>
          </a:lstStyle>
          <a:p xmlns:a="http://schemas.openxmlformats.org/drawingml/2006/main">
            <a:endParaRPr sz="1000"/>
          </a:p>
        </p:txBody>
      </p:sp>
      <p:sp>
        <p:nvSpPr>
          <p:cNvPr id="9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F97A4AD5-204B-38FD-4F33-270C2F9F5CC6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279332" y="6279294"/>
            <a:ext cx="518968" cy="2412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r">
              <a:buNone/>
              <a:defRPr sz="1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fld id="{8574A810-7A8E-054F-9F6B-09E9C694ECF9}" type="slidenum">
              <a:t>‹#›</a:t>
            </a:fld>
            <a:endParaRPr sz="1000"/>
          </a:p>
        </p:txBody>
      </p:sp>
      <p:sp>
        <p:nvSpPr>
          <p:cNvPr id="2" name="Title Placeholder 1">
            <a:extLst xmlns:a="http://schemas.openxmlformats.org/drawingml/2006/main">
              <a:ext uri="{FF2B5EF4-FFF2-40B4-BE49-F238E27FC236}">
                <a16:creationId xmlns:a16="http://schemas.microsoft.com/office/drawing/2014/main" id="{75CF9983-3FD7-FAE4-9F0B-B2CE806D891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3700" y="344008"/>
            <a:ext cx="11404600" cy="104749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</p:spTree>
  </p:cSld>
</p:sldLayout>
</file>

<file path=ppt/slideLayouts/slideLayout7.xml><?xml version="1.0" encoding="utf-8"?>
<p:sldLayout xmlns:p="http://schemas.openxmlformats.org/presentationml/2006/main" preserve="1" userDrawn="1">
  <p:cSld name="Footer Onl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1012CBCC-C555-8C11-443D-86D6F7A45CF8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393700" y="6279952"/>
            <a:ext cx="3568700" cy="2412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l">
              <a:buNone/>
              <a:defRPr sz="1000">
                <a:solidFill>
                  <a:schemeClr val="tx1"/>
                </a:solidFill>
              </a:defRPr>
            </a:lvl1pPr>
          </a:lstStyle>
          <a:p xmlns:a="http://schemas.openxmlformats.org/drawingml/2006/main">
            <a:endParaRPr sz="1000"/>
          </a:p>
        </p:txBody>
      </p:sp>
      <p:sp>
        <p:nvSpPr>
          <p:cNvPr id="8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B69B260B-B882-BF7F-1BB1-28B9578A25A2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279332" y="6279294"/>
            <a:ext cx="518968" cy="2412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r">
              <a:buNone/>
              <a:defRPr sz="1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fld id="{8574A810-7A8E-054F-9F6B-09E9C694ECF9}" type="slidenum">
              <a:t>‹#›</a:t>
            </a:fld>
            <a:endParaRPr sz="1000"/>
          </a:p>
        </p:txBody>
      </p:sp>
    </p:spTree>
  </p:cSld>
</p:sldLayout>
</file>

<file path=ppt/slideLayouts/slideLayout8.xml><?xml version="1.0" encoding="utf-8"?>
<p:sldLayout xmlns:p="http://schemas.openxmlformats.org/presentationml/2006/main" preserve="1" userDrawn="1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../theme/theme1.xml" Id="R69c6b9cb56a94530" /><Relationship Type="http://schemas.openxmlformats.org/officeDocument/2006/relationships/slideLayout" Target="/ppt/slideLayouts/slideLayout1.xml" Id="R8743e0d73e714505" /><Relationship Type="http://schemas.openxmlformats.org/officeDocument/2006/relationships/slideLayout" Target="/ppt/slideLayouts/slideLayout2.xml" Id="R489bcb8573004f95" /><Relationship Type="http://schemas.openxmlformats.org/officeDocument/2006/relationships/slideLayout" Target="/ppt/slideLayouts/slideLayout3.xml" Id="R90f8fd25511c429f" /><Relationship Type="http://schemas.openxmlformats.org/officeDocument/2006/relationships/slideLayout" Target="/ppt/slideLayouts/slideLayout4.xml" Id="R9a43dc50a85d47af" /><Relationship Type="http://schemas.openxmlformats.org/officeDocument/2006/relationships/slideLayout" Target="/ppt/slideLayouts/slideLayout5.xml" Id="R2df53bd1f16a4a8b" /><Relationship Type="http://schemas.openxmlformats.org/officeDocument/2006/relationships/slideLayout" Target="/ppt/slideLayouts/slideLayout6.xml" Id="Rff8cf9ed13984e7f" /><Relationship Type="http://schemas.openxmlformats.org/officeDocument/2006/relationships/slideLayout" Target="/ppt/slideLayouts/slideLayout7.xml" Id="R74086f05eed7447b" /><Relationship Type="http://schemas.openxmlformats.org/officeDocument/2006/relationships/slideLayout" Target="/ppt/slideLayouts/slideLayout8.xml" Id="R0400e78b8ace4c68" /></Relationships>
</file>

<file path=ppt/slideMasters/slideMaster1.xml><?xml version="1.0" encoding="utf-8"?>
<p:sld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Placeholder 1">
            <a:extLst xmlns:a="http://schemas.openxmlformats.org/drawingml/2006/main">
              <a:ext uri="{FF2B5EF4-FFF2-40B4-BE49-F238E27FC236}">
                <a16:creationId xmlns:a16="http://schemas.microsoft.com/office/drawing/2014/main" id="{BB87ED2E-D8FF-5C8C-ED50-59BA3091C3E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3700" y="344008"/>
            <a:ext cx="11404600" cy="104749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05B0E1CB-6DCA-2E9F-2B74-4309B4084C09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393700" y="2032000"/>
            <a:ext cx="11404600" cy="396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/>
          </a:bodyPr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3C75650C-2983-5B02-8421-FF1818435433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393700" y="6279952"/>
            <a:ext cx="3568700" cy="2412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l">
              <a:buNone/>
              <a:defRPr sz="1000">
                <a:solidFill>
                  <a:schemeClr val="tx1"/>
                </a:solidFill>
              </a:defRPr>
            </a:lvl1pPr>
          </a:lstStyle>
          <a:p xmlns:a="http://schemas.openxmlformats.org/drawingml/2006/main">
            <a:endParaRPr sz="1000"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D872C88C-1AB3-96BA-C9E5-3435A4BD59BB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279332" y="6279294"/>
            <a:ext cx="518968" cy="2412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r">
              <a:buNone/>
              <a:defRPr sz="1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fld id="{8574A810-7A8E-054F-9F6B-09E9C694ECF9}" type="slidenum">
              <a:t>‹#›</a:t>
            </a:fld>
            <a:endParaRPr sz="100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8743e0d73e714505"/>
    <p:sldLayoutId xmlns:r="http://schemas.openxmlformats.org/officeDocument/2006/relationships" id="2147483650" r:id="R489bcb8573004f95"/>
    <p:sldLayoutId xmlns:r="http://schemas.openxmlformats.org/officeDocument/2006/relationships" id="2147483651" r:id="R90f8fd25511c429f"/>
    <p:sldLayoutId xmlns:r="http://schemas.openxmlformats.org/officeDocument/2006/relationships" id="2147483652" r:id="R9a43dc50a85d47af"/>
    <p:sldLayoutId xmlns:r="http://schemas.openxmlformats.org/officeDocument/2006/relationships" id="2147483653" r:id="R2df53bd1f16a4a8b"/>
    <p:sldLayoutId xmlns:r="http://schemas.openxmlformats.org/officeDocument/2006/relationships" id="2147483654" r:id="Rff8cf9ed13984e7f"/>
    <p:sldLayoutId xmlns:r="http://schemas.openxmlformats.org/officeDocument/2006/relationships" id="2147483655" r:id="R74086f05eed7447b"/>
    <p:sldLayoutId xmlns:r="http://schemas.openxmlformats.org/officeDocument/2006/relationships" id="2147483656" r:id="R0400e78b8ace4c68"/>
  </p:sldLayoutIdLst>
  <p:hf hdr="0" dt="0"/>
  <p:txStyles>
    <p:titleStyle>
      <a:lvl1pPr xmlns:a="http://schemas.openxmlformats.org/drawingml/2006/main" algn="l" defTabSz="914400">
        <a:lnSpc>
          <a:spcPct val="90000"/>
        </a:lnSpc>
        <a:spcBef>
          <a:spcPct val="0"/>
        </a:spcBef>
        <a:buNone/>
        <a:defRPr sz="2900" kern="12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 defTabSz="914400">
        <a:lnSpc>
          <a:spcPct val="90000"/>
        </a:lnSpc>
        <a:spcBef>
          <a:spcPts val="1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  <p:extLst>
    <p:ext uri="{27BBF7A9-308A-43DC-89C8-2F10F3537804}">
      <p15:sldGuideLst xmlns:p15="http://schemas.microsoft.com/office/powerpoint/2012/main">
        <p15:guide id="1" userDrawn="1">
          <p15:clr>
            <a:srgbClr xmlns:a="http://schemas.openxmlformats.org/drawingml/2006/main" val="F26B43"/>
          </p15:clr>
        </p15:guide>
        <p15:guide id="2" pos="7680" userDrawn="1">
          <p15:clr>
            <a:srgbClr xmlns:a="http://schemas.openxmlformats.org/drawingml/2006/main" val="F26B43"/>
          </p15:clr>
        </p15:guide>
        <p15:guide id="3" pos="248" userDrawn="1">
          <p15:clr>
            <a:srgbClr xmlns:a="http://schemas.openxmlformats.org/drawingml/2006/main" val="F26B43"/>
          </p15:clr>
        </p15:guide>
        <p15:guide id="4" pos="1264" userDrawn="1">
          <p15:clr>
            <a:srgbClr xmlns:a="http://schemas.openxmlformats.org/drawingml/2006/main" val="F26B43"/>
          </p15:clr>
        </p15:guide>
        <p15:guide id="5" pos="1480" userDrawn="1">
          <p15:clr>
            <a:srgbClr xmlns:a="http://schemas.openxmlformats.org/drawingml/2006/main" val="F26B43"/>
          </p15:clr>
        </p15:guide>
        <p15:guide id="6" pos="2496" userDrawn="1">
          <p15:clr>
            <a:srgbClr xmlns:a="http://schemas.openxmlformats.org/drawingml/2006/main" val="F26B43"/>
          </p15:clr>
        </p15:guide>
        <p15:guide id="7" pos="2712" userDrawn="1">
          <p15:clr>
            <a:srgbClr xmlns:a="http://schemas.openxmlformats.org/drawingml/2006/main" val="F26B43"/>
          </p15:clr>
        </p15:guide>
        <p15:guide id="8" pos="3736" userDrawn="1">
          <p15:clr>
            <a:srgbClr xmlns:a="http://schemas.openxmlformats.org/drawingml/2006/main" val="F26B43"/>
          </p15:clr>
        </p15:guide>
        <p15:guide id="9" pos="3944" userDrawn="1">
          <p15:clr>
            <a:srgbClr xmlns:a="http://schemas.openxmlformats.org/drawingml/2006/main" val="F26B43"/>
          </p15:clr>
        </p15:guide>
        <p15:guide id="10" pos="4968" userDrawn="1">
          <p15:clr>
            <a:srgbClr xmlns:a="http://schemas.openxmlformats.org/drawingml/2006/main" val="F26B43"/>
          </p15:clr>
        </p15:guide>
        <p15:guide id="11" pos="5184" userDrawn="1">
          <p15:clr>
            <a:srgbClr xmlns:a="http://schemas.openxmlformats.org/drawingml/2006/main" val="F26B43"/>
          </p15:clr>
        </p15:guide>
        <p15:guide id="12" pos="6200" userDrawn="1">
          <p15:clr>
            <a:srgbClr xmlns:a="http://schemas.openxmlformats.org/drawingml/2006/main" val="F26B43"/>
          </p15:clr>
        </p15:guide>
        <p15:guide id="13" pos="6416" userDrawn="1">
          <p15:clr>
            <a:srgbClr xmlns:a="http://schemas.openxmlformats.org/drawingml/2006/main" val="F26B43"/>
          </p15:clr>
        </p15:guide>
        <p15:guide id="14" pos="7432" userDrawn="1">
          <p15:clr>
            <a:srgbClr xmlns:a="http://schemas.openxmlformats.org/drawingml/2006/main" val="F26B43"/>
          </p15:clr>
        </p15:guide>
        <p15:guide id="15" orient="horz" userDrawn="1">
          <p15:clr>
            <a:srgbClr xmlns:a="http://schemas.openxmlformats.org/drawingml/2006/main" val="F26B43"/>
          </p15:clr>
        </p15:guide>
        <p15:guide id="17" orient="horz" pos="248" userDrawn="1">
          <p15:clr>
            <a:srgbClr xmlns:a="http://schemas.openxmlformats.org/drawingml/2006/main" val="F26B43"/>
          </p15:clr>
        </p15:guide>
        <p15:guide id="18" orient="horz" pos="656" userDrawn="1">
          <p15:clr>
            <a:srgbClr xmlns:a="http://schemas.openxmlformats.org/drawingml/2006/main" val="F26B43"/>
          </p15:clr>
        </p15:guide>
        <p15:guide id="19" orient="horz" pos="872" userDrawn="1">
          <p15:clr>
            <a:srgbClr xmlns:a="http://schemas.openxmlformats.org/drawingml/2006/main" val="F26B43"/>
          </p15:clr>
        </p15:guide>
        <p15:guide id="20" orient="horz" pos="1280" userDrawn="1">
          <p15:clr>
            <a:srgbClr xmlns:a="http://schemas.openxmlformats.org/drawingml/2006/main" val="F26B43"/>
          </p15:clr>
        </p15:guide>
        <p15:guide id="21" orient="horz" pos="1496" userDrawn="1">
          <p15:clr>
            <a:srgbClr xmlns:a="http://schemas.openxmlformats.org/drawingml/2006/main" val="F26B43"/>
          </p15:clr>
        </p15:guide>
        <p15:guide id="22" orient="horz" pos="1904" userDrawn="1">
          <p15:clr>
            <a:srgbClr xmlns:a="http://schemas.openxmlformats.org/drawingml/2006/main" val="F26B43"/>
          </p15:clr>
        </p15:guide>
        <p15:guide id="23" orient="horz" pos="2120" userDrawn="1">
          <p15:clr>
            <a:srgbClr xmlns:a="http://schemas.openxmlformats.org/drawingml/2006/main" val="F26B43"/>
          </p15:clr>
        </p15:guide>
        <p15:guide id="24" orient="horz" pos="2528" userDrawn="1">
          <p15:clr>
            <a:srgbClr xmlns:a="http://schemas.openxmlformats.org/drawingml/2006/main" val="F26B43"/>
          </p15:clr>
        </p15:guide>
        <p15:guide id="25" orient="horz" pos="2744" userDrawn="1">
          <p15:clr>
            <a:srgbClr xmlns:a="http://schemas.openxmlformats.org/drawingml/2006/main" val="F26B43"/>
          </p15:clr>
        </p15:guide>
        <p15:guide id="26" orient="horz" pos="3152" userDrawn="1">
          <p15:clr>
            <a:srgbClr xmlns:a="http://schemas.openxmlformats.org/drawingml/2006/main" val="F26B43"/>
          </p15:clr>
        </p15:guide>
        <p15:guide id="27" orient="horz" pos="3368" userDrawn="1">
          <p15:clr>
            <a:srgbClr xmlns:a="http://schemas.openxmlformats.org/drawingml/2006/main" val="F26B43"/>
          </p15:clr>
        </p15:guide>
        <p15:guide id="28" orient="horz" pos="3776" userDrawn="1">
          <p15:clr>
            <a:srgbClr xmlns:a="http://schemas.openxmlformats.org/drawingml/2006/main" val="F26B43"/>
          </p15:clr>
        </p15:guide>
        <p15:guide id="29" orient="horz" pos="4088" userDrawn="1">
          <p15:clr>
            <a:srgbClr xmlns:a="http://schemas.openxmlformats.org/drawingml/2006/main" val="F26B43"/>
          </p15:clr>
        </p15:guide>
      </p15:sldGuideLst>
    </p:ext>
  </p:extLst>
</p:sldMaster>
</file>

<file path=ppt/slideMasters/theme/theme2.xml><?xml version="1.0" encoding="utf-8"?>
<a:theme xmlns:a="http://schemas.openxmlformats.org/drawingml/2006/main" name="Default Codex Theme">
  <a:themeElements>
    <a:clrScheme name="Codex Colors">
      <a:dk1>
        <a:srgbClr val="000000"/>
      </a:dk1>
      <a:lt1>
        <a:srgbClr val="FFFFFF"/>
      </a:lt1>
      <a:dk2>
        <a:srgbClr val="00264F"/>
      </a:dk2>
      <a:lt2>
        <a:srgbClr val="D0EDFA"/>
      </a:lt2>
      <a:accent1>
        <a:srgbClr val="6DCBF4"/>
      </a:accent1>
      <a:accent2>
        <a:srgbClr val="3D8DFF"/>
      </a:accent2>
      <a:accent3>
        <a:srgbClr val="47E2C2"/>
      </a:accent3>
      <a:accent4>
        <a:srgbClr val="85DF7B"/>
      </a:accent4>
      <a:accent5>
        <a:srgbClr val="F7CB59"/>
      </a:accent5>
      <a:accent6>
        <a:srgbClr val="F67576"/>
      </a:accent6>
      <a:hlink>
        <a:srgbClr val="000000"/>
      </a:hlink>
      <a:folHlink>
        <a:srgbClr val="0097A7"/>
      </a:folHlink>
    </a:clrScheme>
    <a:fontScheme name="Helvetica Neue">
      <a:majorFont>
        <a:latin typeface="Helvetica Neue"/>
        <a:ea typeface=""/>
        <a:cs typeface=""/>
      </a:majorFont>
      <a:minorFont>
        <a:latin typeface="Helvetica Neue"/>
        <a:ea typeface=""/>
        <a:cs typeface=""/>
      </a:minorFont>
    </a:fontScheme>
    <a:fmtScheme name="Codex Colors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2ff4c906b7f4bc3" /><Relationship Type="http://schemas.openxmlformats.org/officeDocument/2006/relationships/image" Target="/ppt/media/image.png" Id="Rd3b83426369340e7" /><Relationship Type="http://schemas.openxmlformats.org/officeDocument/2006/relationships/notesSlide" Target="/ppt/notesSlides/notesSlide1.xml" Id="Rab1bb6c07c0b450c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e0e18c43c5f4296" /><Relationship Type="http://schemas.openxmlformats.org/officeDocument/2006/relationships/notesSlide" Target="/ppt/notesSlides/notesSlide2.xml" Id="Rbbfb6f10be614691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b305dfc6e2e49d1" /><Relationship Type="http://schemas.openxmlformats.org/officeDocument/2006/relationships/notesSlide" Target="/ppt/notesSlides/notesSlide3.xml" Id="Rf9afb26f98ca4b3b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d518e39df0a47a8" /><Relationship Type="http://schemas.openxmlformats.org/officeDocument/2006/relationships/notesSlide" Target="/ppt/notesSlides/notesSlide4.xml" Id="R097bd71d485b46ac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ece58daeeaa4c9d" /><Relationship Type="http://schemas.openxmlformats.org/officeDocument/2006/relationships/image" Target="/ppt/media/image.jpeg" Id="Rfc2bc61e956346e8" /><Relationship Type="http://schemas.openxmlformats.org/officeDocument/2006/relationships/notesSlide" Target="/ppt/notesSlides/notesSlide5.xml" Id="R8fd74eee23b14dd3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f0713972d3b483c" /><Relationship Type="http://schemas.openxmlformats.org/officeDocument/2006/relationships/notesSlide" Target="/ppt/notesSlides/notesSlide6.xml" Id="Rf2f735b7cca341ea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3b83426369340e7"/>
          <a:srcRect xmlns:a="http://schemas.openxmlformats.org/drawingml/2006/main" l="0" t="27" r="0" b="2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07737165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32" name="Google Shape;532;p58">
            <a:extLst xmlns:a="http://schemas.openxmlformats.org/drawingml/2006/main">
              <a:ext uri="{FF2B5EF4-FFF2-40B4-BE49-F238E27FC236}">
                <a16:creationId xmlns:a16="http://schemas.microsoft.com/office/drawing/2014/main" id="{3B21B056-C0DC-9927-7975-E8A8720D325A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279332" y="6279294"/>
            <a:ext cx="518968" cy="241240"/>
          </a:xfrm>
        </p:spPr>
        <p:txBody>
          <a:bodyPr xmlns:a="http://schemas.openxmlformats.org/drawingml/2006/main" spcFirstLastPara="1" vert="horz" wrap="square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fld id="{E2598689-54C9-18A7-3A19-ED76AA08988F}" type="slidenum">
              <a:t>2</a:t>
            </a:fld>
            <a:endParaRPr/>
          </a:p>
        </p:txBody>
      </p:sp>
      <p:sp>
        <p:nvSpPr>
          <p:cNvPr id="533" name="Google Shape;533;p58">
            <a:extLst xmlns:a="http://schemas.openxmlformats.org/drawingml/2006/main">
              <a:ext uri="{FF2B5EF4-FFF2-40B4-BE49-F238E27FC236}">
                <a16:creationId xmlns:a16="http://schemas.microsoft.com/office/drawing/2014/main" id="{62D86C57-5A36-A9CA-FBAE-7FD6A93121B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3700" y="344008"/>
            <a:ext cx="11404600" cy="1047491"/>
          </a:xfrm>
        </p:spPr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r>
              <a:t>The edge isn’t one signal. It’s disciplined combination.</a:t>
            </a:r>
          </a:p>
        </p:txBody>
      </p:sp>
      <p:sp>
        <p:nvSpPr>
          <p:cNvPr id="5" name="Google Shape;558;p61">
            <a:extLst xmlns:a="http://schemas.openxmlformats.org/drawingml/2006/main">
              <a:ext uri="{FF2B5EF4-FFF2-40B4-BE49-F238E27FC236}">
                <a16:creationId xmlns:a16="http://schemas.microsoft.com/office/drawing/2014/main" id="{CF52371F-8816-97E4-7F6A-234DB3FEF9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700" y="4013200"/>
            <a:ext cx="3568700" cy="1981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Arial"/>
              <a:buNone/>
            </a:pPr>
            <a:r>
              <a:rPr sz="2000"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Community attention reveals where interest is moving.</a:t>
            </a:r>
            <a:endParaRPr sz="2000">
              <a:solidFill>
                <a:prstClr val="black"/>
              </a:solidFill>
              <a:latin typeface="Helvetica Neue"/>
              <a:ea typeface="Helvetica Neue"/>
              <a:cs typeface="Helvetica Neue"/>
            </a:endParaRPr>
          </a:p>
        </p:txBody>
      </p:sp>
      <p:sp>
        <p:nvSpPr>
          <p:cNvPr id="6" name="Google Shape;559;p61">
            <a:extLst xmlns:a="http://schemas.openxmlformats.org/drawingml/2006/main">
              <a:ext uri="{FF2B5EF4-FFF2-40B4-BE49-F238E27FC236}">
                <a16:creationId xmlns:a16="http://schemas.microsoft.com/office/drawing/2014/main" id="{B35EA25F-F28D-25C7-A5DF-16A7EADF8D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8000" y="4013200"/>
            <a:ext cx="3568700" cy="1981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Arial"/>
              <a:buNone/>
            </a:pPr>
            <a:r>
              <a:rPr sz="2000"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Expert shifts capture fresh ratings and target changes.</a:t>
            </a:r>
            <a:endParaRPr sz="2000">
              <a:solidFill>
                <a:prstClr val="black"/>
              </a:solidFill>
              <a:latin typeface="Helvetica Neue"/>
              <a:ea typeface="Helvetica Neue"/>
              <a:cs typeface="Helvetica Neue"/>
            </a:endParaRPr>
          </a:p>
        </p:txBody>
      </p:sp>
      <p:sp>
        <p:nvSpPr>
          <p:cNvPr id="7" name="Google Shape;560;p61">
            <a:extLst xmlns:a="http://schemas.openxmlformats.org/drawingml/2006/main">
              <a:ext uri="{FF2B5EF4-FFF2-40B4-BE49-F238E27FC236}">
                <a16:creationId xmlns:a16="http://schemas.microsoft.com/office/drawing/2014/main" id="{6E61CDC3-05E3-B689-0BCE-9014DDCB5E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2273" y="4013200"/>
            <a:ext cx="3568700" cy="1981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Arial"/>
              <a:buNone/>
            </a:pPr>
            <a:r>
              <a:rPr sz="2000"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Technical evidence ranks volume, momentum and volatility.</a:t>
            </a:r>
            <a:endParaRPr sz="2000">
              <a:solidFill>
                <a:prstClr val="black"/>
              </a:solidFill>
              <a:latin typeface="Helvetica Neue"/>
              <a:ea typeface="Helvetica Neue"/>
              <a:cs typeface="Helvetica Neue"/>
            </a:endParaRPr>
          </a:p>
        </p:txBody>
      </p:sp>
      <p:sp>
        <p:nvSpPr>
          <p:cNvPr id="8" name="Google Shape;561;p61">
            <a:extLst xmlns:a="http://schemas.openxmlformats.org/drawingml/2006/main">
              <a:ext uri="{FF2B5EF4-FFF2-40B4-BE49-F238E27FC236}">
                <a16:creationId xmlns:a16="http://schemas.microsoft.com/office/drawing/2014/main" id="{2E9332F7-1AC8-A3A0-635E-D70D0C3E6A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79904" y="3382303"/>
            <a:ext cx="315580" cy="353873"/>
          </a:xfrm>
          <a:custGeom xmlns:a="http://schemas.openxmlformats.org/drawingml/2006/main">
            <a:rect l="l" t="t" r="r" b="b"/>
            <a:pathLst>
              <a:path w="20236" h="20115">
                <a:moveTo>
                  <a:pt x="11303" y="2594"/>
                </a:moveTo>
                <a:lnTo>
                  <a:pt x="2175" y="11983"/>
                </a:lnTo>
                <a:lnTo>
                  <a:pt x="9033" y="11983"/>
                </a:lnTo>
                <a:cubicBezTo>
                  <a:pt x="9364" y="11983"/>
                  <a:pt x="9678" y="12118"/>
                  <a:pt x="9883" y="12348"/>
                </a:cubicBezTo>
                <a:cubicBezTo>
                  <a:pt x="10089" y="12579"/>
                  <a:pt x="10165" y="12880"/>
                  <a:pt x="10089" y="13166"/>
                </a:cubicBezTo>
                <a:lnTo>
                  <a:pt x="8933" y="17522"/>
                </a:lnTo>
                <a:lnTo>
                  <a:pt x="18061" y="8133"/>
                </a:lnTo>
                <a:lnTo>
                  <a:pt x="11203" y="8133"/>
                </a:lnTo>
                <a:cubicBezTo>
                  <a:pt x="10872" y="8133"/>
                  <a:pt x="10558" y="7999"/>
                  <a:pt x="10353" y="7768"/>
                </a:cubicBezTo>
                <a:cubicBezTo>
                  <a:pt x="10147" y="7537"/>
                  <a:pt x="10071" y="7236"/>
                  <a:pt x="10147" y="6950"/>
                </a:cubicBezTo>
                <a:lnTo>
                  <a:pt x="11303" y="2594"/>
                </a:lnTo>
                <a:close/>
                <a:moveTo>
                  <a:pt x="10382" y="593"/>
                </a:moveTo>
                <a:cubicBezTo>
                  <a:pt x="11679" y="-742"/>
                  <a:pt x="14125" y="363"/>
                  <a:pt x="13670" y="2078"/>
                </a:cubicBezTo>
                <a:lnTo>
                  <a:pt x="12574" y="6208"/>
                </a:lnTo>
                <a:lnTo>
                  <a:pt x="18061" y="6208"/>
                </a:lnTo>
                <a:cubicBezTo>
                  <a:pt x="19918" y="6208"/>
                  <a:pt x="20918" y="8142"/>
                  <a:pt x="19705" y="9390"/>
                </a:cubicBezTo>
                <a:lnTo>
                  <a:pt x="9854" y="19523"/>
                </a:lnTo>
                <a:cubicBezTo>
                  <a:pt x="8557" y="20858"/>
                  <a:pt x="6111" y="19753"/>
                  <a:pt x="6566" y="18038"/>
                </a:cubicBezTo>
                <a:lnTo>
                  <a:pt x="7662" y="13908"/>
                </a:lnTo>
                <a:lnTo>
                  <a:pt x="2175" y="13908"/>
                </a:lnTo>
                <a:cubicBezTo>
                  <a:pt x="318" y="13908"/>
                  <a:pt x="-682" y="11974"/>
                  <a:pt x="531" y="10726"/>
                </a:cubicBezTo>
                <a:lnTo>
                  <a:pt x="10382" y="593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7725" tIns="67725" rIns="67725" bIns="6772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Clr>
                <a:srgbClr val="FFFFFF"/>
              </a:buClr>
              <a:buSzPts val="4300"/>
              <a:buNone/>
            </a:pPr>
            <a:endParaRPr sz="4300">
              <a:solidFill>
                <a:srgbClr val="FFFFFF"/>
              </a:solidFill>
              <a:latin typeface="Helvetica Neue"/>
              <a:ea typeface="Helvetica Neue"/>
              <a:cs typeface="Helvetica Neue"/>
            </a:endParaRPr>
          </a:p>
        </p:txBody>
      </p:sp>
      <p:sp>
        <p:nvSpPr>
          <p:cNvPr id="9" name="Google Shape;562;p61">
            <a:extLst xmlns:a="http://schemas.openxmlformats.org/drawingml/2006/main">
              <a:ext uri="{FF2B5EF4-FFF2-40B4-BE49-F238E27FC236}">
                <a16:creationId xmlns:a16="http://schemas.microsoft.com/office/drawing/2014/main" id="{1F6EAF7D-166C-52A8-35F4-18CE1043DC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1398" y="3378212"/>
            <a:ext cx="327078" cy="362074"/>
          </a:xfrm>
          <a:custGeom xmlns:a="http://schemas.openxmlformats.org/drawingml/2006/main">
            <a:rect l="l" t="t" r="r" b="b"/>
            <a:pathLst>
              <a:path w="21600" h="21333">
                <a:moveTo>
                  <a:pt x="11359" y="2130"/>
                </a:moveTo>
                <a:cubicBezTo>
                  <a:pt x="11014" y="1951"/>
                  <a:pt x="10588" y="1951"/>
                  <a:pt x="10241" y="2130"/>
                </a:cubicBezTo>
                <a:lnTo>
                  <a:pt x="3250" y="5732"/>
                </a:lnTo>
                <a:lnTo>
                  <a:pt x="10817" y="9530"/>
                </a:lnTo>
                <a:lnTo>
                  <a:pt x="18593" y="5856"/>
                </a:lnTo>
                <a:lnTo>
                  <a:pt x="11359" y="2130"/>
                </a:lnTo>
                <a:close/>
                <a:moveTo>
                  <a:pt x="19364" y="7749"/>
                </a:moveTo>
                <a:lnTo>
                  <a:pt x="11918" y="11267"/>
                </a:lnTo>
                <a:lnTo>
                  <a:pt x="11918" y="18916"/>
                </a:lnTo>
                <a:lnTo>
                  <a:pt x="18805" y="15367"/>
                </a:lnTo>
                <a:cubicBezTo>
                  <a:pt x="19152" y="15189"/>
                  <a:pt x="19364" y="14860"/>
                  <a:pt x="19364" y="14503"/>
                </a:cubicBezTo>
                <a:lnTo>
                  <a:pt x="19364" y="7749"/>
                </a:lnTo>
                <a:close/>
                <a:moveTo>
                  <a:pt x="9682" y="18916"/>
                </a:moveTo>
                <a:lnTo>
                  <a:pt x="9682" y="11250"/>
                </a:lnTo>
                <a:lnTo>
                  <a:pt x="2236" y="7513"/>
                </a:lnTo>
                <a:lnTo>
                  <a:pt x="2236" y="14503"/>
                </a:lnTo>
                <a:cubicBezTo>
                  <a:pt x="2236" y="14860"/>
                  <a:pt x="2448" y="15189"/>
                  <a:pt x="2795" y="15367"/>
                </a:cubicBezTo>
                <a:lnTo>
                  <a:pt x="9682" y="18916"/>
                </a:lnTo>
                <a:close/>
                <a:moveTo>
                  <a:pt x="9123" y="401"/>
                </a:moveTo>
                <a:cubicBezTo>
                  <a:pt x="10160" y="-133"/>
                  <a:pt x="11440" y="-133"/>
                  <a:pt x="12477" y="401"/>
                </a:cubicBezTo>
                <a:lnTo>
                  <a:pt x="19923" y="4238"/>
                </a:lnTo>
                <a:cubicBezTo>
                  <a:pt x="20962" y="4773"/>
                  <a:pt x="21600" y="5761"/>
                  <a:pt x="21600" y="6830"/>
                </a:cubicBezTo>
                <a:lnTo>
                  <a:pt x="21600" y="14503"/>
                </a:lnTo>
                <a:cubicBezTo>
                  <a:pt x="21600" y="15572"/>
                  <a:pt x="20962" y="16561"/>
                  <a:pt x="19923" y="17096"/>
                </a:cubicBezTo>
                <a:lnTo>
                  <a:pt x="12477" y="20932"/>
                </a:lnTo>
                <a:cubicBezTo>
                  <a:pt x="11440" y="21467"/>
                  <a:pt x="10160" y="21467"/>
                  <a:pt x="9123" y="20932"/>
                </a:cubicBezTo>
                <a:lnTo>
                  <a:pt x="1677" y="17096"/>
                </a:lnTo>
                <a:cubicBezTo>
                  <a:pt x="640" y="16561"/>
                  <a:pt x="0" y="15572"/>
                  <a:pt x="0" y="14503"/>
                </a:cubicBezTo>
                <a:lnTo>
                  <a:pt x="0" y="6830"/>
                </a:lnTo>
                <a:cubicBezTo>
                  <a:pt x="0" y="5761"/>
                  <a:pt x="640" y="4773"/>
                  <a:pt x="1677" y="4238"/>
                </a:cubicBezTo>
                <a:lnTo>
                  <a:pt x="9123" y="401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7725" tIns="67725" rIns="67725" bIns="6772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Clr>
                <a:srgbClr val="FFFFFF"/>
              </a:buClr>
              <a:buSzPts val="4300"/>
              <a:buNone/>
            </a:pPr>
            <a:endParaRPr sz="4300">
              <a:solidFill>
                <a:srgbClr val="FFFFFF"/>
              </a:solidFill>
              <a:latin typeface="Helvetica Neue"/>
              <a:ea typeface="Helvetica Neue"/>
              <a:cs typeface="Helvetica Neue"/>
            </a:endParaRPr>
          </a:p>
        </p:txBody>
      </p:sp>
      <p:sp>
        <p:nvSpPr>
          <p:cNvPr id="10" name="Google Shape;563;p61">
            <a:extLst xmlns:a="http://schemas.openxmlformats.org/drawingml/2006/main">
              <a:ext uri="{FF2B5EF4-FFF2-40B4-BE49-F238E27FC236}">
                <a16:creationId xmlns:a16="http://schemas.microsoft.com/office/drawing/2014/main" id="{56E3A8EC-7B67-B778-5CC6-BC02829250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1597" y="3406849"/>
            <a:ext cx="338580" cy="270918"/>
          </a:xfrm>
          <a:custGeom xmlns:a="http://schemas.openxmlformats.org/drawingml/2006/main">
            <a:rect l="l" t="t" r="r" b="b"/>
            <a:pathLst>
              <a:path w="21600" h="21600">
                <a:moveTo>
                  <a:pt x="6220" y="0"/>
                </a:moveTo>
                <a:lnTo>
                  <a:pt x="15380" y="0"/>
                </a:lnTo>
                <a:cubicBezTo>
                  <a:pt x="16250" y="0"/>
                  <a:pt x="16968" y="0"/>
                  <a:pt x="17552" y="59"/>
                </a:cubicBezTo>
                <a:cubicBezTo>
                  <a:pt x="18159" y="122"/>
                  <a:pt x="18717" y="255"/>
                  <a:pt x="19241" y="589"/>
                </a:cubicBezTo>
                <a:cubicBezTo>
                  <a:pt x="20055" y="1106"/>
                  <a:pt x="20715" y="1932"/>
                  <a:pt x="21129" y="2948"/>
                </a:cubicBezTo>
                <a:cubicBezTo>
                  <a:pt x="21396" y="3603"/>
                  <a:pt x="21503" y="4301"/>
                  <a:pt x="21552" y="5060"/>
                </a:cubicBezTo>
                <a:cubicBezTo>
                  <a:pt x="21600" y="5790"/>
                  <a:pt x="21600" y="6688"/>
                  <a:pt x="21600" y="7775"/>
                </a:cubicBezTo>
                <a:lnTo>
                  <a:pt x="21600" y="13825"/>
                </a:lnTo>
                <a:cubicBezTo>
                  <a:pt x="21600" y="14912"/>
                  <a:pt x="21600" y="15810"/>
                  <a:pt x="21552" y="16540"/>
                </a:cubicBezTo>
                <a:cubicBezTo>
                  <a:pt x="21503" y="17299"/>
                  <a:pt x="21396" y="17997"/>
                  <a:pt x="21129" y="18652"/>
                </a:cubicBezTo>
                <a:cubicBezTo>
                  <a:pt x="20715" y="19668"/>
                  <a:pt x="20055" y="20494"/>
                  <a:pt x="19241" y="21011"/>
                </a:cubicBezTo>
                <a:cubicBezTo>
                  <a:pt x="18717" y="21345"/>
                  <a:pt x="18159" y="21478"/>
                  <a:pt x="17552" y="21541"/>
                </a:cubicBezTo>
                <a:cubicBezTo>
                  <a:pt x="16968" y="21600"/>
                  <a:pt x="16250" y="21600"/>
                  <a:pt x="15380" y="21600"/>
                </a:cubicBezTo>
                <a:lnTo>
                  <a:pt x="6220" y="21600"/>
                </a:lnTo>
                <a:cubicBezTo>
                  <a:pt x="5350" y="21600"/>
                  <a:pt x="4632" y="21600"/>
                  <a:pt x="4048" y="21541"/>
                </a:cubicBezTo>
                <a:cubicBezTo>
                  <a:pt x="3441" y="21478"/>
                  <a:pt x="2883" y="21345"/>
                  <a:pt x="2359" y="21011"/>
                </a:cubicBezTo>
                <a:cubicBezTo>
                  <a:pt x="1545" y="20494"/>
                  <a:pt x="885" y="19668"/>
                  <a:pt x="471" y="18652"/>
                </a:cubicBezTo>
                <a:cubicBezTo>
                  <a:pt x="204" y="17997"/>
                  <a:pt x="97" y="17299"/>
                  <a:pt x="48" y="16540"/>
                </a:cubicBezTo>
                <a:cubicBezTo>
                  <a:pt x="0" y="15810"/>
                  <a:pt x="0" y="14912"/>
                  <a:pt x="0" y="13825"/>
                </a:cubicBezTo>
                <a:lnTo>
                  <a:pt x="0" y="7775"/>
                </a:lnTo>
                <a:cubicBezTo>
                  <a:pt x="0" y="6688"/>
                  <a:pt x="0" y="5790"/>
                  <a:pt x="48" y="5060"/>
                </a:cubicBezTo>
                <a:cubicBezTo>
                  <a:pt x="97" y="4301"/>
                  <a:pt x="204" y="3603"/>
                  <a:pt x="471" y="2948"/>
                </a:cubicBezTo>
                <a:cubicBezTo>
                  <a:pt x="885" y="1932"/>
                  <a:pt x="1545" y="1106"/>
                  <a:pt x="2359" y="589"/>
                </a:cubicBezTo>
                <a:cubicBezTo>
                  <a:pt x="2883" y="255"/>
                  <a:pt x="3441" y="122"/>
                  <a:pt x="4048" y="59"/>
                </a:cubicBezTo>
                <a:cubicBezTo>
                  <a:pt x="4632" y="0"/>
                  <a:pt x="5350" y="0"/>
                  <a:pt x="6220" y="0"/>
                </a:cubicBezTo>
                <a:close/>
                <a:moveTo>
                  <a:pt x="2160" y="9450"/>
                </a:moveTo>
                <a:lnTo>
                  <a:pt x="2160" y="13770"/>
                </a:lnTo>
                <a:cubicBezTo>
                  <a:pt x="2160" y="14927"/>
                  <a:pt x="2161" y="15713"/>
                  <a:pt x="2201" y="16320"/>
                </a:cubicBezTo>
                <a:cubicBezTo>
                  <a:pt x="2239" y="16911"/>
                  <a:pt x="2309" y="17215"/>
                  <a:pt x="2395" y="17426"/>
                </a:cubicBezTo>
                <a:cubicBezTo>
                  <a:pt x="2603" y="17933"/>
                  <a:pt x="2933" y="18347"/>
                  <a:pt x="3339" y="18606"/>
                </a:cubicBezTo>
                <a:cubicBezTo>
                  <a:pt x="3508" y="18714"/>
                  <a:pt x="3751" y="18801"/>
                  <a:pt x="4224" y="18849"/>
                </a:cubicBezTo>
                <a:cubicBezTo>
                  <a:pt x="4710" y="18899"/>
                  <a:pt x="5338" y="18900"/>
                  <a:pt x="6264" y="18900"/>
                </a:cubicBezTo>
                <a:lnTo>
                  <a:pt x="15336" y="18900"/>
                </a:lnTo>
                <a:cubicBezTo>
                  <a:pt x="16262" y="18900"/>
                  <a:pt x="16890" y="18899"/>
                  <a:pt x="17376" y="18849"/>
                </a:cubicBezTo>
                <a:cubicBezTo>
                  <a:pt x="17849" y="18801"/>
                  <a:pt x="18092" y="18714"/>
                  <a:pt x="18261" y="18606"/>
                </a:cubicBezTo>
                <a:cubicBezTo>
                  <a:pt x="18667" y="18347"/>
                  <a:pt x="18997" y="17933"/>
                  <a:pt x="19205" y="17426"/>
                </a:cubicBezTo>
                <a:cubicBezTo>
                  <a:pt x="19291" y="17215"/>
                  <a:pt x="19361" y="16911"/>
                  <a:pt x="19399" y="16320"/>
                </a:cubicBezTo>
                <a:cubicBezTo>
                  <a:pt x="19439" y="15713"/>
                  <a:pt x="19440" y="14927"/>
                  <a:pt x="19440" y="13770"/>
                </a:cubicBezTo>
                <a:lnTo>
                  <a:pt x="19440" y="9450"/>
                </a:lnTo>
                <a:lnTo>
                  <a:pt x="2160" y="9450"/>
                </a:lnTo>
                <a:close/>
                <a:moveTo>
                  <a:pt x="19438" y="6750"/>
                </a:moveTo>
                <a:cubicBezTo>
                  <a:pt x="19435" y="6148"/>
                  <a:pt x="19425" y="5677"/>
                  <a:pt x="19399" y="5280"/>
                </a:cubicBezTo>
                <a:cubicBezTo>
                  <a:pt x="19361" y="4689"/>
                  <a:pt x="19291" y="4385"/>
                  <a:pt x="19205" y="4174"/>
                </a:cubicBezTo>
                <a:cubicBezTo>
                  <a:pt x="18997" y="3667"/>
                  <a:pt x="18667" y="3254"/>
                  <a:pt x="18261" y="2994"/>
                </a:cubicBezTo>
                <a:cubicBezTo>
                  <a:pt x="18092" y="2886"/>
                  <a:pt x="17849" y="2799"/>
                  <a:pt x="17376" y="2751"/>
                </a:cubicBezTo>
                <a:cubicBezTo>
                  <a:pt x="16890" y="2701"/>
                  <a:pt x="16262" y="2700"/>
                  <a:pt x="15336" y="2700"/>
                </a:cubicBezTo>
                <a:lnTo>
                  <a:pt x="6264" y="2700"/>
                </a:lnTo>
                <a:cubicBezTo>
                  <a:pt x="5338" y="2700"/>
                  <a:pt x="4710" y="2701"/>
                  <a:pt x="4224" y="2751"/>
                </a:cubicBezTo>
                <a:cubicBezTo>
                  <a:pt x="3751" y="2799"/>
                  <a:pt x="3508" y="2886"/>
                  <a:pt x="3339" y="2994"/>
                </a:cubicBezTo>
                <a:cubicBezTo>
                  <a:pt x="2933" y="3254"/>
                  <a:pt x="2603" y="3667"/>
                  <a:pt x="2395" y="4174"/>
                </a:cubicBezTo>
                <a:cubicBezTo>
                  <a:pt x="2309" y="4385"/>
                  <a:pt x="2239" y="4689"/>
                  <a:pt x="2201" y="5280"/>
                </a:cubicBezTo>
                <a:cubicBezTo>
                  <a:pt x="2175" y="5677"/>
                  <a:pt x="2165" y="6148"/>
                  <a:pt x="2162" y="6750"/>
                </a:cubicBezTo>
                <a:lnTo>
                  <a:pt x="19438" y="6750"/>
                </a:lnTo>
                <a:close/>
                <a:moveTo>
                  <a:pt x="12960" y="14850"/>
                </a:moveTo>
                <a:cubicBezTo>
                  <a:pt x="12960" y="14105"/>
                  <a:pt x="13444" y="13500"/>
                  <a:pt x="14040" y="13500"/>
                </a:cubicBezTo>
                <a:lnTo>
                  <a:pt x="16200" y="13500"/>
                </a:lnTo>
                <a:cubicBezTo>
                  <a:pt x="16796" y="13500"/>
                  <a:pt x="17280" y="14105"/>
                  <a:pt x="17280" y="14850"/>
                </a:cubicBezTo>
                <a:cubicBezTo>
                  <a:pt x="17280" y="15595"/>
                  <a:pt x="16796" y="16200"/>
                  <a:pt x="16200" y="16200"/>
                </a:cubicBezTo>
                <a:lnTo>
                  <a:pt x="14040" y="16200"/>
                </a:lnTo>
                <a:cubicBezTo>
                  <a:pt x="13444" y="16200"/>
                  <a:pt x="12960" y="15595"/>
                  <a:pt x="12960" y="14850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7725" tIns="67725" rIns="67725" bIns="6772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Clr>
                <a:srgbClr val="FFFFFF"/>
              </a:buClr>
              <a:buSzPts val="4300"/>
              <a:buNone/>
            </a:pPr>
            <a:endParaRPr sz="4300">
              <a:solidFill>
                <a:srgbClr val="FFFFFF"/>
              </a:solidFill>
              <a:latin typeface="Helvetica Neue"/>
              <a:ea typeface="Helvetica Neue"/>
              <a:cs typeface="Helvetica Neue"/>
            </a:endParaRPr>
          </a:p>
        </p:txBody>
      </p:sp>
    </p:spTree>
    <p:extLst>
      <p:ext uri="{BB962C8B-B14F-4D97-AF65-F5344CB8AC3E}">
        <p14:creationId xmlns:p14="http://schemas.microsoft.com/office/powerpoint/2010/main" val="1053439695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Slide Number Placeholder 3">
            <a:extLst xmlns:a="http://schemas.openxmlformats.org/drawingml/2006/main">
              <a:ext uri="{FF2B5EF4-FFF2-40B4-BE49-F238E27FC236}">
                <a16:creationId xmlns:a16="http://schemas.microsoft.com/office/drawing/2014/main" id="{7F3FA98E-8546-AC84-6BD4-8DF0BEBBB87D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279332" y="6279294"/>
            <a:ext cx="518968" cy="24124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202359C0-8A7A-196E-DD58-8E6569619F09}" type="slidenum">
              <a:t>3</a:t>
            </a:fld>
            <a:endParaRPr/>
          </a:p>
        </p:txBody>
      </p:sp>
      <p:sp>
        <p:nvSpPr>
          <p:cNvPr id="11" name="Title 10">
            <a:extLst xmlns:a="http://schemas.openxmlformats.org/drawingml/2006/main">
              <a:ext uri="{FF2B5EF4-FFF2-40B4-BE49-F238E27FC236}">
                <a16:creationId xmlns:a16="http://schemas.microsoft.com/office/drawing/2014/main" id="{D802DC3F-F6C4-90E8-847D-BA0C2E4445D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3700" y="344008"/>
            <a:ext cx="11404600" cy="1047491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 three-stage loop turns information into accountable action.</a:t>
            </a:r>
          </a:p>
        </p:txBody>
      </p:sp>
      <p:cxnSp>
        <p:nvCxnSpPr>
          <p:cNvPr id="38" name="Google Shape;2259;p159"/>
          <p:cNvCxnSpPr>
            <a:stCxn xmlns:a="http://schemas.openxmlformats.org/drawingml/2006/main" id="3" idx="2"/>
          </p:cNvCxnSpPr>
          <p:nvPr/>
        </p:nvCxnSpPr>
        <p:spPr>
          <a:xfrm xmlns:a="http://schemas.openxmlformats.org/drawingml/2006/main">
            <a:off x="337718" y="5341621"/>
            <a:ext cx="12245400" cy="300"/>
          </a:xfrm>
          <a:prstGeom xmlns:a="http://schemas.openxmlformats.org/drawingml/2006/main" prst="straightConnector1">
            <a:avLst/>
          </a:prstGeom>
          <a:ln xmlns:a="http://schemas.openxmlformats.org/drawingml/2006/main" w="9525" cap="flat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3" name="Google Shape;2260;p159">
            <a:extLst xmlns:a="http://schemas.openxmlformats.org/drawingml/2006/main">
              <a:ext uri="{FF2B5EF4-FFF2-40B4-BE49-F238E27FC236}">
                <a16:creationId xmlns:a16="http://schemas.microsoft.com/office/drawing/2014/main" id="{96976673-0764-B027-B369-C8C94D3950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718" y="5288071"/>
            <a:ext cx="107100" cy="107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chemeClr val="dk1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OpenAI Sans"/>
              <a:ea typeface="OpenAI Sans"/>
              <a:cs typeface="OpenAI Sans"/>
            </a:endParaRPr>
          </a:p>
        </p:txBody>
      </p:sp>
      <p:sp>
        <p:nvSpPr>
          <p:cNvPr id="5" name="Google Shape;2261;p159">
            <a:extLst xmlns:a="http://schemas.openxmlformats.org/drawingml/2006/main">
              <a:ext uri="{FF2B5EF4-FFF2-40B4-BE49-F238E27FC236}">
                <a16:creationId xmlns:a16="http://schemas.microsoft.com/office/drawing/2014/main" id="{80D9DF3C-FD01-7A5C-C521-9B86480D40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51750" y="5288071"/>
            <a:ext cx="107100" cy="107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chemeClr val="dk1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OpenAI Sans"/>
              <a:ea typeface="OpenAI Sans"/>
              <a:cs typeface="OpenAI Sans"/>
            </a:endParaRPr>
          </a:p>
        </p:txBody>
      </p:sp>
      <p:sp>
        <p:nvSpPr>
          <p:cNvPr id="6" name="Google Shape;2262;p159">
            <a:extLst xmlns:a="http://schemas.openxmlformats.org/drawingml/2006/main">
              <a:ext uri="{FF2B5EF4-FFF2-40B4-BE49-F238E27FC236}">
                <a16:creationId xmlns:a16="http://schemas.microsoft.com/office/drawing/2014/main" id="{37DF6577-8813-93FC-E0AA-22F96D3445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6050" y="5288071"/>
            <a:ext cx="107100" cy="107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chemeClr val="dk1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OpenAI Sans"/>
              <a:ea typeface="OpenAI Sans"/>
              <a:cs typeface="OpenAI Sans"/>
            </a:endParaRPr>
          </a:p>
        </p:txBody>
      </p:sp>
      <p:sp>
        <p:nvSpPr>
          <p:cNvPr id="20" name="Rounded Rectangle 19">
            <a:extLst xmlns:a="http://schemas.openxmlformats.org/drawingml/2006/main">
              <a:ext uri="{FF2B5EF4-FFF2-40B4-BE49-F238E27FC236}">
                <a16:creationId xmlns:a16="http://schemas.microsoft.com/office/drawing/2014/main" id="{18323F9C-3DB1-9BB3-9462-18B6435C10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700" y="1401762"/>
            <a:ext cx="3568700" cy="3619500"/>
          </a:xfrm>
          <a:prstGeom xmlns:a="http://schemas.openxmlformats.org/drawingml/2006/main" prst="roundRect">
            <a:avLst>
              <a:gd name="adj" fmla="val 3585"/>
            </a:avLst>
          </a:prstGeom>
          <a:solidFill xmlns:a="http://schemas.openxmlformats.org/drawingml/2006/main">
            <a:schemeClr val="bg1">
              <a:lumMod val="95000"/>
            </a:schemeClr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21" name="Content Placeholder 8">
            <a:extLst xmlns:a="http://schemas.openxmlformats.org/drawingml/2006/main">
              <a:ext uri="{FF2B5EF4-FFF2-40B4-BE49-F238E27FC236}">
                <a16:creationId xmlns:a16="http://schemas.microsoft.com/office/drawing/2014/main" id="{052F45FF-C9C5-2664-7FF7-CFEC297378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3381" y="1806797"/>
            <a:ext cx="2949339" cy="2566766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Autofit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sz="1800"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01 · COLLECT</a:t>
            </a:r>
          </a:p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sz="1800"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Validate Alpaca assets, snapshots and completed daily bars.</a:t>
            </a:r>
            <a:endParaRPr/>
          </a:p>
        </p:txBody>
      </p:sp>
      <p:sp>
        <p:nvSpPr>
          <p:cNvPr id="22" name="Rounded Rectangle 21">
            <a:extLst xmlns:a="http://schemas.openxmlformats.org/drawingml/2006/main">
              <a:ext uri="{FF2B5EF4-FFF2-40B4-BE49-F238E27FC236}">
                <a16:creationId xmlns:a16="http://schemas.microsoft.com/office/drawing/2014/main" id="{C3E867C1-C7DA-85C7-C8DC-55F132F292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8475" y="1401762"/>
            <a:ext cx="3568700" cy="3619500"/>
          </a:xfrm>
          <a:prstGeom xmlns:a="http://schemas.openxmlformats.org/drawingml/2006/main" prst="roundRect">
            <a:avLst>
              <a:gd name="adj" fmla="val 3585"/>
            </a:avLst>
          </a:prstGeom>
          <a:solidFill xmlns:a="http://schemas.openxmlformats.org/drawingml/2006/main">
            <a:schemeClr val="bg1">
              <a:lumMod val="95000"/>
            </a:schemeClr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23" name="Content Placeholder 8">
            <a:extLst xmlns:a="http://schemas.openxmlformats.org/drawingml/2006/main">
              <a:ext uri="{FF2B5EF4-FFF2-40B4-BE49-F238E27FC236}">
                <a16:creationId xmlns:a16="http://schemas.microsoft.com/office/drawing/2014/main" id="{5C40FE43-DE8E-7C68-A6D4-F8D8AECE74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8156" y="1806797"/>
            <a:ext cx="2949339" cy="2566766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Autofit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sz="1800"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02 · RANK</a:t>
            </a:r>
          </a:p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sz="1800"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Fuse deterministic screens with community and expert attention.</a:t>
            </a:r>
            <a:endParaRPr/>
          </a:p>
        </p:txBody>
      </p:sp>
      <p:sp>
        <p:nvSpPr>
          <p:cNvPr id="24" name="Rounded Rectangle 23">
            <a:extLst xmlns:a="http://schemas.openxmlformats.org/drawingml/2006/main">
              <a:ext uri="{FF2B5EF4-FFF2-40B4-BE49-F238E27FC236}">
                <a16:creationId xmlns:a16="http://schemas.microsoft.com/office/drawing/2014/main" id="{EA9CAD1D-ACB2-1454-6255-0DA0ECB85F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7538" y="1401762"/>
            <a:ext cx="3568700" cy="3619500"/>
          </a:xfrm>
          <a:prstGeom xmlns:a="http://schemas.openxmlformats.org/drawingml/2006/main" prst="roundRect">
            <a:avLst>
              <a:gd name="adj" fmla="val 3585"/>
            </a:avLst>
          </a:prstGeom>
          <a:solidFill xmlns:a="http://schemas.openxmlformats.org/drawingml/2006/main">
            <a:schemeClr val="bg1">
              <a:lumMod val="95000"/>
            </a:schemeClr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25" name="Content Placeholder 8">
            <a:extLst xmlns:a="http://schemas.openxmlformats.org/drawingml/2006/main">
              <a:ext uri="{FF2B5EF4-FFF2-40B4-BE49-F238E27FC236}">
                <a16:creationId xmlns:a16="http://schemas.microsoft.com/office/drawing/2014/main" id="{AECA4705-7C1E-A1DB-1156-729DDE0C58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47219" y="1806797"/>
            <a:ext cx="2949339" cy="2566766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Autofit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sz="1800"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03 · ACT</a:t>
            </a:r>
          </a:p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sz="1800"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Research, risk-check, then BUY, SELL or HOLD—paper only.</a:t>
            </a:r>
            <a:endParaRPr/>
          </a:p>
        </p:txBody>
      </p:sp>
      <p:sp>
        <p:nvSpPr>
          <p:cNvPr id="8" name="Text Placeholder 16">
            <a:extLst xmlns:a="http://schemas.openxmlformats.org/drawingml/2006/main">
              <a:ext uri="{FF2B5EF4-FFF2-40B4-BE49-F238E27FC236}">
                <a16:creationId xmlns:a16="http://schemas.microsoft.com/office/drawing/2014/main" id="{013F05BF-0D59-AD7B-B623-A2626D8E33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51750" y="5602406"/>
            <a:ext cx="2595934" cy="39199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>
            <a:noAutofit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Arial"/>
              <a:buNone/>
            </a:pPr>
            <a:r>
              <a:rPr sz="1600"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STAGE 1</a:t>
            </a:r>
            <a:endParaRPr sz="1600">
              <a:solidFill>
                <a:prstClr val="black"/>
              </a:solidFill>
              <a:latin typeface="Helvetica Neue"/>
              <a:ea typeface="Helvetica Neue"/>
              <a:cs typeface="Helvetica Neue"/>
            </a:endParaRPr>
          </a:p>
        </p:txBody>
      </p:sp>
      <p:sp>
        <p:nvSpPr>
          <p:cNvPr id="12" name="Text Placeholder 16">
            <a:extLst xmlns:a="http://schemas.openxmlformats.org/drawingml/2006/main">
              <a:ext uri="{FF2B5EF4-FFF2-40B4-BE49-F238E27FC236}">
                <a16:creationId xmlns:a16="http://schemas.microsoft.com/office/drawing/2014/main" id="{BD278DD6-3486-8F28-C119-6A1866BD8D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950" y="5602406"/>
            <a:ext cx="2595934" cy="39199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>
            <a:noAutofit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Arial"/>
              <a:buNone/>
            </a:pPr>
            <a:r>
              <a:rPr sz="1600"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STAGE 0</a:t>
            </a:r>
            <a:endParaRPr sz="1600">
              <a:solidFill>
                <a:prstClr val="black"/>
              </a:solidFill>
              <a:latin typeface="Helvetica Neue"/>
              <a:ea typeface="Helvetica Neue"/>
              <a:cs typeface="Helvetica Neue"/>
            </a:endParaRPr>
          </a:p>
        </p:txBody>
      </p:sp>
      <p:sp>
        <p:nvSpPr>
          <p:cNvPr id="13" name="Text Placeholder 16">
            <a:extLst xmlns:a="http://schemas.openxmlformats.org/drawingml/2006/main">
              <a:ext uri="{FF2B5EF4-FFF2-40B4-BE49-F238E27FC236}">
                <a16:creationId xmlns:a16="http://schemas.microsoft.com/office/drawing/2014/main" id="{DAB1D750-F0E1-A3C4-989E-260B04C4A8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5439" y="5602406"/>
            <a:ext cx="2595934" cy="39199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>
            <a:noAutofit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Arial"/>
              <a:buNone/>
            </a:pPr>
            <a:r>
              <a:rPr sz="1600"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STAGE 2</a:t>
            </a:r>
            <a:endParaRPr sz="1600">
              <a:solidFill>
                <a:prstClr val="black"/>
              </a:solidFill>
              <a:latin typeface="Helvetica Neue"/>
              <a:ea typeface="Helvetica Neue"/>
              <a:cs typeface="Helvetica Neue"/>
            </a:endParaRPr>
          </a:p>
        </p:txBody>
      </p:sp>
    </p:spTree>
    <p:extLst>
      <p:ext uri="{BB962C8B-B14F-4D97-AF65-F5344CB8AC3E}">
        <p14:creationId xmlns:p14="http://schemas.microsoft.com/office/powerpoint/2010/main" val="1678413312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Rounded Rectangle 5">
            <a:extLst xmlns:a="http://schemas.openxmlformats.org/drawingml/2006/main">
              <a:ext uri="{FF2B5EF4-FFF2-40B4-BE49-F238E27FC236}">
                <a16:creationId xmlns:a16="http://schemas.microsoft.com/office/drawing/2014/main" id="{3595FF69-AA88-8653-2D13-3E0289A12A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700" y="3022600"/>
            <a:ext cx="3568700" cy="2971800"/>
          </a:xfrm>
          <a:prstGeom xmlns:a="http://schemas.openxmlformats.org/drawingml/2006/main" prst="roundRect">
            <a:avLst>
              <a:gd name="adj" fmla="val 3585"/>
            </a:avLst>
          </a:prstGeom>
          <a:solidFill xmlns:a="http://schemas.openxmlformats.org/drawingml/2006/main">
            <a:schemeClr val="bg1">
              <a:lumMod val="95000"/>
            </a:schemeClr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7" name="Rounded Rectangle 6">
            <a:extLst xmlns:a="http://schemas.openxmlformats.org/drawingml/2006/main">
              <a:ext uri="{FF2B5EF4-FFF2-40B4-BE49-F238E27FC236}">
                <a16:creationId xmlns:a16="http://schemas.microsoft.com/office/drawing/2014/main" id="{E3AFD29D-9AD2-841D-0915-B4BDDC09C0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1650" y="3022600"/>
            <a:ext cx="3568700" cy="2971800"/>
          </a:xfrm>
          <a:prstGeom xmlns:a="http://schemas.openxmlformats.org/drawingml/2006/main" prst="roundRect">
            <a:avLst>
              <a:gd name="adj" fmla="val 3585"/>
            </a:avLst>
          </a:prstGeom>
          <a:solidFill xmlns:a="http://schemas.openxmlformats.org/drawingml/2006/main">
            <a:schemeClr val="bg1">
              <a:lumMod val="95000"/>
            </a:schemeClr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8" name="Rounded Rectangle 7">
            <a:extLst xmlns:a="http://schemas.openxmlformats.org/drawingml/2006/main">
              <a:ext uri="{FF2B5EF4-FFF2-40B4-BE49-F238E27FC236}">
                <a16:creationId xmlns:a16="http://schemas.microsoft.com/office/drawing/2014/main" id="{7A10D6BE-4B8A-E31D-9AC6-AEB4FCD518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2297" y="3022600"/>
            <a:ext cx="3568700" cy="2971800"/>
          </a:xfrm>
          <a:prstGeom xmlns:a="http://schemas.openxmlformats.org/drawingml/2006/main" prst="roundRect">
            <a:avLst>
              <a:gd name="adj" fmla="val 3585"/>
            </a:avLst>
          </a:prstGeom>
          <a:solidFill xmlns:a="http://schemas.openxmlformats.org/drawingml/2006/main">
            <a:schemeClr val="bg1">
              <a:lumMod val="95000"/>
            </a:schemeClr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2" name="Slide Number Placeholder 1">
            <a:extLst xmlns:a="http://schemas.openxmlformats.org/drawingml/2006/main">
              <a:ext uri="{FF2B5EF4-FFF2-40B4-BE49-F238E27FC236}">
                <a16:creationId xmlns:a16="http://schemas.microsoft.com/office/drawing/2014/main" id="{908090F4-C2CE-1329-8725-AC98A6AF8F60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279315" y="6279261"/>
            <a:ext cx="518922" cy="24126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EFD6AB9A-5F9E-5F59-51AB-3C8734130965}" type="slidenum">
              <a:t>4</a:t>
            </a:fld>
            <a:endParaRPr/>
          </a:p>
        </p:txBody>
      </p:sp>
      <p:sp>
        <p:nvSpPr>
          <p:cNvPr id="3" name="Title 2">
            <a:extLst xmlns:a="http://schemas.openxmlformats.org/drawingml/2006/main">
              <a:ext uri="{FF2B5EF4-FFF2-40B4-BE49-F238E27FC236}">
                <a16:creationId xmlns:a16="http://schemas.microsoft.com/office/drawing/2014/main" id="{B64EBD68-6C7C-E1E5-F754-A2CABD28D4B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3668" y="344043"/>
            <a:ext cx="11404568" cy="1047464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funnel gets narrower—and more skeptical—at every step.</a:t>
            </a:r>
            <a:endParaRPr/>
          </a:p>
        </p:txBody>
      </p:sp>
      <p:sp>
        <p:nvSpPr>
          <p:cNvPr id="10" name="Content Placeholder 9">
            <a:extLst xmlns:a="http://schemas.openxmlformats.org/drawingml/2006/main">
              <a:ext uri="{FF2B5EF4-FFF2-40B4-BE49-F238E27FC236}">
                <a16:creationId xmlns:a16="http://schemas.microsoft.com/office/drawing/2014/main" id="{E8352425-466B-B7C0-4556-B12F3F4F6DB3}"/>
              </a:ext>
            </a:extLst>
          </p:cNvPr>
          <p:cNvSpPr>
            <a:spLocks xmlns:a="http://schemas.openxmlformats.org/drawingml/2006/main" noGrp="1"/>
          </p:cNvSpPr>
          <p:nvPr>
            <p:ph idx="4294967295"/>
          </p:nvPr>
        </p:nvSpPr>
        <p:spPr>
          <a:xfrm xmlns:a="http://schemas.openxmlformats.org/drawingml/2006/main">
            <a:off x="702413" y="4900613"/>
            <a:ext cx="2949575" cy="819150"/>
          </a:xfrm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1300"/>
              </a:spcBef>
              <a:spcAft>
                <a:spcPts val="1300"/>
              </a:spcAft>
              <a:buClrTx/>
              <a:buSzTx/>
              <a:buFontTx/>
              <a:buNone/>
            </a:pPr>
            <a:r>
              <a:rPr sz="1600" b="0" i="0" u="none" cap="none" spc="0">
                <a:ln>
                  <a:noFill/>
                </a:ln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US-listed symbols
screened</a:t>
            </a:r>
          </a:p>
        </p:txBody>
      </p:sp>
      <p:sp>
        <p:nvSpPr>
          <p:cNvPr id="11" name="Content Placeholder 10">
            <a:extLst xmlns:a="http://schemas.openxmlformats.org/drawingml/2006/main">
              <a:ext uri="{FF2B5EF4-FFF2-40B4-BE49-F238E27FC236}">
                <a16:creationId xmlns:a16="http://schemas.microsoft.com/office/drawing/2014/main" id="{9D1B4876-C319-B371-36B9-745CADB662E1}"/>
              </a:ext>
            </a:extLst>
          </p:cNvPr>
          <p:cNvSpPr>
            <a:spLocks xmlns:a="http://schemas.openxmlformats.org/drawingml/2006/main" noGrp="1"/>
          </p:cNvSpPr>
          <p:nvPr>
            <p:ph idx="4294967295"/>
          </p:nvPr>
        </p:nvSpPr>
        <p:spPr>
          <a:xfrm xmlns:a="http://schemas.openxmlformats.org/drawingml/2006/main">
            <a:off x="8541859" y="4900613"/>
            <a:ext cx="2949575" cy="819150"/>
          </a:xfrm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1300"/>
              </a:spcBef>
              <a:spcAft>
                <a:spcPts val="1300"/>
              </a:spcAft>
              <a:buClrTx/>
              <a:buSzTx/>
              <a:buFontTx/>
              <a:buNone/>
            </a:pPr>
            <a:r>
              <a:rPr sz="1600" b="0" i="0" u="none" cap="none" spc="0">
                <a:ln>
                  <a:noFill/>
                </a:ln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research-ready
shortlist</a:t>
            </a:r>
          </a:p>
        </p:txBody>
      </p:sp>
      <p:sp>
        <p:nvSpPr>
          <p:cNvPr id="12" name="Content Placeholder 11">
            <a:extLst xmlns:a="http://schemas.openxmlformats.org/drawingml/2006/main">
              <a:ext uri="{FF2B5EF4-FFF2-40B4-BE49-F238E27FC236}">
                <a16:creationId xmlns:a16="http://schemas.microsoft.com/office/drawing/2014/main" id="{1BDFAF15-9B61-BA2E-0381-0DE8F578A81F}"/>
              </a:ext>
            </a:extLst>
          </p:cNvPr>
          <p:cNvSpPr>
            <a:spLocks xmlns:a="http://schemas.openxmlformats.org/drawingml/2006/main" noGrp="1"/>
          </p:cNvSpPr>
          <p:nvPr>
            <p:ph idx="4294967295"/>
          </p:nvPr>
        </p:nvSpPr>
        <p:spPr>
          <a:xfrm xmlns:a="http://schemas.openxmlformats.org/drawingml/2006/main">
            <a:off x="4621211" y="4900613"/>
            <a:ext cx="2949575" cy="819150"/>
          </a:xfrm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1300"/>
              </a:spcBef>
              <a:spcAft>
                <a:spcPts val="1300"/>
              </a:spcAft>
              <a:buClrTx/>
              <a:buSzTx/>
              <a:buFontTx/>
              <a:buNone/>
            </a:pPr>
            <a:r>
              <a:rPr sz="1600" b="0" i="0" u="none" cap="none" spc="0">
                <a:ln>
                  <a:noFill/>
                </a:ln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multi-signal
candidates</a:t>
            </a:r>
          </a:p>
        </p:txBody>
      </p:sp>
      <p:sp>
        <p:nvSpPr>
          <p:cNvPr id="13" name="Content Placeholder 9">
            <a:extLst xmlns:a="http://schemas.openxmlformats.org/drawingml/2006/main">
              <a:ext uri="{FF2B5EF4-FFF2-40B4-BE49-F238E27FC236}">
                <a16:creationId xmlns:a16="http://schemas.microsoft.com/office/drawing/2014/main" id="{EDBA9068-3E52-4988-B608-4CED930E45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413" y="3429000"/>
            <a:ext cx="2940124" cy="1359356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>
            <a:normAutofit fontScale="100000"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2540" marR="0" lvl="0" indent="0" algn="l" defTabSz="91440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prstClr val="black"/>
              </a:buClr>
              <a:buSzPts val="1400"/>
              <a:buNone/>
            </a:pPr>
            <a:r>
              <a:rPr sz="7500" b="0" i="0" u="none" cap="none" spc="0">
                <a:ln>
                  <a:noFill/>
                </a:ln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13,476</a:t>
            </a:r>
            <a:endParaRPr sz="7500"/>
          </a:p>
        </p:txBody>
      </p:sp>
      <p:sp>
        <p:nvSpPr>
          <p:cNvPr id="4" name="Content Placeholder 9">
            <a:extLst xmlns:a="http://schemas.openxmlformats.org/drawingml/2006/main">
              <a:ext uri="{FF2B5EF4-FFF2-40B4-BE49-F238E27FC236}">
                <a16:creationId xmlns:a16="http://schemas.microsoft.com/office/drawing/2014/main" id="{553D01BD-BEDA-E1D7-8112-CCD78E0BB0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2932" y="3429000"/>
            <a:ext cx="2940124" cy="1359356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>
            <a:normAutofit fontScale="100000"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2540" marR="0" lvl="0" indent="0" algn="l" defTabSz="91440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prstClr val="black"/>
              </a:buClr>
              <a:buSzPts val="1400"/>
              <a:buNone/>
            </a:pPr>
            <a:r>
              <a:rPr sz="7500" b="0" i="0" u="none" cap="none" spc="0">
                <a:ln>
                  <a:noFill/>
                </a:ln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197</a:t>
            </a:r>
            <a:endParaRPr sz="7500"/>
          </a:p>
        </p:txBody>
      </p:sp>
      <p:sp>
        <p:nvSpPr>
          <p:cNvPr id="5" name="Content Placeholder 9">
            <a:extLst xmlns:a="http://schemas.openxmlformats.org/drawingml/2006/main">
              <a:ext uri="{FF2B5EF4-FFF2-40B4-BE49-F238E27FC236}">
                <a16:creationId xmlns:a16="http://schemas.microsoft.com/office/drawing/2014/main" id="{5AE7C386-15B3-0C22-BD29-DB00B9F7FA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62362" y="3429000"/>
            <a:ext cx="2940124" cy="1359356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>
            <a:normAutofit fontScale="100000"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2540" marR="0" lvl="0" indent="0" algn="l" defTabSz="91440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prstClr val="black"/>
              </a:buClr>
              <a:buSzPts val="1400"/>
              <a:buNone/>
            </a:pPr>
            <a:r>
              <a:rPr sz="7500" b="0" i="0" u="none" cap="none" spc="0">
                <a:ln>
                  <a:noFill/>
                </a:ln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36</a:t>
            </a:r>
            <a:endParaRPr sz="7500"/>
          </a:p>
        </p:txBody>
      </p:sp>
      <p:sp>
        <p:nvSpPr>
          <p:cNvPr id="14" name="Content Placeholder 15">
            <a:extLst xmlns:a="http://schemas.openxmlformats.org/drawingml/2006/main">
              <a:ext uri="{FF2B5EF4-FFF2-40B4-BE49-F238E27FC236}">
                <a16:creationId xmlns:a16="http://schemas.microsoft.com/office/drawing/2014/main" id="{45E38982-B0CA-BEBE-C656-B7F62835AD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700" y="1138300"/>
            <a:ext cx="11404599" cy="1599406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Autofit/>
          </a:bodyPr>
          <a:lstStyle xmlns:a="http://schemas.openxmlformats.org/drawingml/2006/main">
            <a:lvl1pPr marL="0" indent="0" algn="l" defTabSz="914400">
              <a:lnSpc>
                <a:spcPct val="90000"/>
              </a:lnSpc>
              <a:spcBef>
                <a:spcPts val="1000"/>
              </a:spcBef>
              <a:spcAft>
                <a:spcPts val="800"/>
              </a:spcAft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457200" indent="0" algn="l" defTabSz="914400">
              <a:lnSpc>
                <a:spcPct val="90000"/>
              </a:lnSpc>
              <a:spcBef>
                <a:spcPts val="500"/>
              </a:spcBef>
              <a:spcAft>
                <a:spcPts val="800"/>
              </a:spcAft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400" indent="0" algn="l" defTabSz="914400">
              <a:lnSpc>
                <a:spcPct val="90000"/>
              </a:lnSpc>
              <a:spcBef>
                <a:spcPts val="500"/>
              </a:spcBef>
              <a:spcAft>
                <a:spcPts val="800"/>
              </a:spcAft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600" indent="0" algn="l" defTabSz="914400">
              <a:lnSpc>
                <a:spcPct val="90000"/>
              </a:lnSpc>
              <a:spcBef>
                <a:spcPts val="500"/>
              </a:spcBef>
              <a:spcAft>
                <a:spcPts val="800"/>
              </a:spcAft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800" indent="0" algn="l" defTabSz="914400">
              <a:lnSpc>
                <a:spcPct val="90000"/>
              </a:lnSpc>
              <a:spcBef>
                <a:spcPts val="500"/>
              </a:spcBef>
              <a:spcAft>
                <a:spcPts val="800"/>
              </a:spcAft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sz="1800">
                <a:solidFill>
                  <a:prstClr val="black"/>
                </a:solidFill>
                <a:latin typeface="Helvetica Neue Medium"/>
                <a:ea typeface="Helvetica Neue Medium"/>
                <a:cs typeface="Helvetica Neue Medium"/>
              </a:rPr>
              <a:t>LATEST SCREEN · 02 SEP 2026</a:t>
            </a:r>
          </a:p>
          <a:p xmlns:a="http://schemas.openxmlformats.org/drawingml/2006/main">
            <a:pPr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The same bars and configuration reproduce the same ranked shortlist.</a:t>
            </a:r>
          </a:p>
        </p:txBody>
      </p:sp>
    </p:spTree>
    <p:extLst>
      <p:ext uri="{BB962C8B-B14F-4D97-AF65-F5344CB8AC3E}">
        <p14:creationId xmlns:p14="http://schemas.microsoft.com/office/powerpoint/2010/main" val="2369616825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32" name="Google Shape;532;p58">
            <a:extLst xmlns:a="http://schemas.openxmlformats.org/drawingml/2006/main">
              <a:ext uri="{FF2B5EF4-FFF2-40B4-BE49-F238E27FC236}">
                <a16:creationId xmlns:a16="http://schemas.microsoft.com/office/drawing/2014/main" id="{D4C92004-F6FC-8FE6-BAD5-82F7D96E79D7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279315" y="6279261"/>
            <a:ext cx="518922" cy="241268"/>
          </a:xfrm>
        </p:spPr>
        <p:txBody>
          <a:bodyPr xmlns:a="http://schemas.openxmlformats.org/drawingml/2006/main" spcFirstLastPara="1" vert="horz" wrap="square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fld id="{EE5B3003-2C54-13C6-9832-7637201064DE}" type="slidenum">
              <a:t>5</a:t>
            </a:fld>
            <a:endParaRPr/>
          </a:p>
        </p:txBody>
      </p:sp>
      <p:sp>
        <p:nvSpPr>
          <p:cNvPr id="533" name="Google Shape;533;p58">
            <a:extLst xmlns:a="http://schemas.openxmlformats.org/drawingml/2006/main">
              <a:ext uri="{FF2B5EF4-FFF2-40B4-BE49-F238E27FC236}">
                <a16:creationId xmlns:a16="http://schemas.microsoft.com/office/drawing/2014/main" id="{3A80AAE9-99DA-415B-48E5-DF294854039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3668" y="344043"/>
            <a:ext cx="11404568" cy="1047464"/>
          </a:xfrm>
        </p:spPr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r>
              <a:t>Autonomy stays inspectable.</a:t>
            </a:r>
          </a:p>
        </p:txBody>
      </p:sp>
      <p:pic>
        <p:nvPicPr>
          <p:cNvPr id="537" name="Picture 3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c2bc61e956346e8"/>
          <a:srcRect xmlns:a="http://schemas.openxmlformats.org/drawingml/2006/main" l="556" t="0" r="556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269040" y="396409"/>
            <a:ext cx="5539740" cy="5602070"/>
          </a:xfrm>
          <a:prstGeom xmlns:a="http://schemas.openxmlformats.org/drawingml/2006/main" prst="roundRect">
            <a:avLst/>
          </a:prstGeom>
        </p:spPr>
      </p:pic>
      <p:sp>
        <p:nvSpPr>
          <p:cNvPr id="8" name="Google Shape;534;p58">
            <a:extLst xmlns:a="http://schemas.openxmlformats.org/drawingml/2006/main">
              <a:ext uri="{FF2B5EF4-FFF2-40B4-BE49-F238E27FC236}">
                <a16:creationId xmlns:a16="http://schemas.microsoft.com/office/drawing/2014/main" id="{33514EAC-B165-B2D5-733A-EDDA1BA94C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700" y="2032000"/>
            <a:ext cx="5537200" cy="396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Arial"/>
              <a:buNone/>
            </a:pPr>
            <a:r>
              <a:rPr sz="1800">
                <a:latin typeface="Helvetica Neue"/>
                <a:ea typeface="Helvetica Neue"/>
                <a:cs typeface="Helvetica Neue"/>
              </a:rPr>
              <a:t>One workspace, the whole decision trail.</a:t>
            </a:r>
          </a:p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Arial"/>
              <a:buNone/>
            </a:pPr>
            <a:r>
              <a:rPr sz="1800">
                <a:latin typeface="Helvetica Neue"/>
                <a:ea typeface="Helvetica Neue"/>
                <a:cs typeface="Helvetica Neue"/>
              </a:rPr>
              <a:t>Plain-English summaries, live paper state, research links, ghost trades and durable Markdown memory keep every action reviewable.</a:t>
            </a:r>
          </a:p>
        </p:txBody>
      </p:sp>
    </p:spTree>
    <p:extLst>
      <p:ext uri="{BB962C8B-B14F-4D97-AF65-F5344CB8AC3E}">
        <p14:creationId xmlns:p14="http://schemas.microsoft.com/office/powerpoint/2010/main" val="3245670770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 3">
            <a:extLst xmlns:a="http://schemas.openxmlformats.org/drawingml/2006/main">
              <a:ext uri="{FF2B5EF4-FFF2-40B4-BE49-F238E27FC236}">
                <a16:creationId xmlns:a16="http://schemas.microsoft.com/office/drawing/2014/main" id="{979AC8B6-148F-970D-D8DE-AD2E0AB19BC8}"/>
              </a:ext>
            </a:extLst>
          </p:cNvPr>
          <p:cNvSpPr>
            <a:spLocks xmlns:a="http://schemas.openxmlformats.org/drawingml/2006/main" noGrp="1"/>
          </p:cNvSpPr>
          <p:nvPr>
            <p:ph type="ctrTitle" idx="0"/>
          </p:nvPr>
        </p:nvSpPr>
        <p:spPr>
          <a:xfrm xmlns:a="http://schemas.openxmlformats.org/drawingml/2006/main">
            <a:off x="393700" y="1738755"/>
            <a:ext cx="9448800" cy="2491490"/>
          </a:xfrm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r>
              <a:rPr sz="7200"/>
              <a:t>Paper-first by design.
Learning by comparison.</a:t>
            </a:r>
          </a:p>
        </p:txBody>
      </p:sp>
      <p:sp>
        <p:nvSpPr>
          <p:cNvPr id="5" name="Subtitle 4">
            <a:extLst xmlns:a="http://schemas.openxmlformats.org/drawingml/2006/main">
              <a:ext uri="{FF2B5EF4-FFF2-40B4-BE49-F238E27FC236}">
                <a16:creationId xmlns:a16="http://schemas.microsoft.com/office/drawing/2014/main" id="{A8E1F2E1-786A-48AE-5E52-007228284270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393700" y="4973320"/>
            <a:ext cx="3568700" cy="1080246"/>
          </a:xfrm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r>
              <a:rPr sz="2000"/>
              <a:t>No live trades</a:t>
            </a:r>
          </a:p>
          <a:p xmlns:a="http://schemas.openxmlformats.org/drawingml/2006/main">
            <a:r>
              <a:rPr sz="2000"/>
              <a:t>Defined-risk guardrails</a:t>
            </a:r>
          </a:p>
          <a:p xmlns:a="http://schemas.openxmlformats.org/drawingml/2006/main">
            <a:r>
              <a:rPr sz="2000"/>
              <a:t>Real vs. ghost memory</a:t>
            </a:r>
          </a:p>
        </p:txBody>
      </p:sp>
      <p:sp>
        <p:nvSpPr>
          <p:cNvPr id="6" name="Subtitle 4">
            <a:extLst xmlns:a="http://schemas.openxmlformats.org/drawingml/2006/main">
              <a:ext uri="{FF2B5EF4-FFF2-40B4-BE49-F238E27FC236}">
                <a16:creationId xmlns:a16="http://schemas.microsoft.com/office/drawing/2014/main" id="{A94AB779-D110-4562-575A-800C929A77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700" y="392241"/>
            <a:ext cx="1612900" cy="649159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Autofit/>
          </a:bodyPr>
          <a:lstStyle xmlns:a="http://schemas.openxmlformats.org/drawingml/2006/main">
            <a:lvl1pPr marL="0" indent="0" algn="l" defTabSz="914400">
              <a:lnSpc>
                <a:spcPct val="90000"/>
              </a:lnSpc>
              <a:spcBef>
                <a:spcPts val="1000"/>
              </a:spcBef>
              <a:buFont typeface="Arial"/>
              <a:buNone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4572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4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6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8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2860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7432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2004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6576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r>
              <a:rPr sz="1800"/>
              <a:t>MACHINE</a:t>
            </a:r>
          </a:p>
        </p:txBody>
      </p:sp>
    </p:spTree>
    <p:extLst>
      <p:ext uri="{BB962C8B-B14F-4D97-AF65-F5344CB8AC3E}">
        <p14:creationId xmlns:p14="http://schemas.microsoft.com/office/powerpoint/2010/main" val="3653678558"/>
      </p:ext>
    </p:extLst>
  </p:cSld>
</p:sld>
</file>

<file path=ppt/theme/theme1.xml><?xml version="1.0" encoding="utf-8"?>
<a:theme xmlns:a="http://schemas.openxmlformats.org/drawingml/2006/main" name="Default Codex Theme">
  <a:themeElements>
    <a:clrScheme name="Codex Colors">
      <a:dk1>
        <a:srgbClr val="000000"/>
      </a:dk1>
      <a:lt1>
        <a:srgbClr val="FFFFFF"/>
      </a:lt1>
      <a:dk2>
        <a:srgbClr val="00264F"/>
      </a:dk2>
      <a:lt2>
        <a:srgbClr val="D0EDFA"/>
      </a:lt2>
      <a:accent1>
        <a:srgbClr val="6DCBF4"/>
      </a:accent1>
      <a:accent2>
        <a:srgbClr val="3D8DFF"/>
      </a:accent2>
      <a:accent3>
        <a:srgbClr val="47E2C2"/>
      </a:accent3>
      <a:accent4>
        <a:srgbClr val="85DF7B"/>
      </a:accent4>
      <a:accent5>
        <a:srgbClr val="F7CB59"/>
      </a:accent5>
      <a:accent6>
        <a:srgbClr val="F67576"/>
      </a:accent6>
      <a:hlink>
        <a:srgbClr val="000000"/>
      </a:hlink>
      <a:folHlink>
        <a:srgbClr val="0097A7"/>
      </a:folHlink>
    </a:clrScheme>
    <a:fontScheme name="Helvetica Neue">
      <a:majorFont>
        <a:latin typeface="Helvetica Neue"/>
        <a:ea typeface=""/>
        <a:cs typeface=""/>
      </a:majorFont>
      <a:minorFont>
        <a:latin typeface="Helvetica Neue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2026-09-03T20:43:28.7430000Z</dcterms:created>
  <dcterms:modified xsi:type="dcterms:W3CDTF">2026-09-03T20:43:28.7430000Z</dcterms:modified>
</coreProperties>
</file>